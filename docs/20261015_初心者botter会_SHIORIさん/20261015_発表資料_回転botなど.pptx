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" name="Shape 6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1" name="Shape 7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30秒</a:t>
            </a:r>
          </a:p>
          <a:p>
            <a:pPr/>
          </a:p>
          <a:p>
            <a:pPr/>
            <a:r>
              <a:t>今回は4つの研究について、試したこと、結果から残せる候補、次に確認することを報告します。各研究は市場・期間・資金投入量が違うため、利益の大きさで横断的に順位を付けません。10月8日のBotter会での発表に続く研究報告です。</a:t>
            </a:r>
          </a:p>
          <a:p>
            <a:pPr/>
          </a:p>
          <a:p>
            <a:pPr/>
            <a:r>
              <a:t>出典：/Users/shiori/Documents/Codex/2026-08-18/new-chat/outputs/btcjpy-e3-exit-research-summary-2026-10-09.html</a:t>
            </a:r>
          </a:p>
          <a:p>
            <a:pPr/>
            <a:r>
              <a:t>/Users/shiori/Documents/Codex/2026-08-18/new-chat/outputs/btc-macd-research-summary-20261007-1753.html</a:t>
            </a:r>
          </a:p>
          <a:p>
            <a:pPr/>
            <a:r>
              <a:t>/Users/shiori/Documents/Codex/2026-08-18/new-chat/outputs/btc-macd-overfitting-audit-training-30min.html</a:t>
            </a:r>
          </a:p>
          <a:p>
            <a:pPr/>
            <a:r>
              <a:t>/Users/shiori/Documents/Codex/2026-08-18/new-chat/outputs/range-bot-complete-research-20261009.html</a:t>
            </a:r>
          </a:p>
          <a:p>
            <a:pPr/>
            <a:r>
              <a:t>/Users/shiori/Documents/Codex/2026-10-09/https-cdn-discordapp-com-attachments-1537461097089736774/outputs/fr_bot_research_report.html</a:t>
            </a:r>
          </a:p>
          <a:p>
            <a:pPr/>
            <a:r>
              <a:t>/Users/shiori/Documents/Codex/2026-08-18/new-chat/outputs/btc-macd-research-summary-20261007-1753-15min.html</a:t>
            </a:r>
          </a:p>
          <a:p>
            <a:pPr/>
            <a:r>
              <a:t>/Users/shiori/Documents/Codex/2026-08-18/new-chat/outputs/btc-macd-execution-15-vs-30min-training-2020-2024.html</a:t>
            </a:r>
          </a:p>
          <a:p>
            <a:pPr/>
            <a:r>
              <a:t>/Users/shiori/Documents/Codex/2026-08-18/new-chat/outputs/btc-macd-leading-bot-report-20261013.html</a:t>
            </a:r>
          </a:p>
          <a:p>
            <a:pPr/>
            <a:r>
              <a:t>/Users/shiori/Documents/Codex/2026-08-18/new-chat/outputs/hyperliquid-btc-range-limit-stops.html</a:t>
            </a:r>
          </a:p>
          <a:p>
            <a:pPr/>
            <a:r>
              <a:t>/Users/shiori/Documents/Codex/2026-08-18/new-chat/outputs/range-bot-research-overview-20261008.html</a:t>
            </a:r>
          </a:p>
          <a:p>
            <a:pPr/>
            <a:r>
              <a:t>/Users/shiori/Documents/Codex/2026-08-18/new-chat/outputs/binance-btc-range-timeframe-comparison.html</a:t>
            </a:r>
          </a:p>
          <a:p>
            <a:pPr/>
            <a:r>
              <a:t>/Users/shiori/Documents/Codex/2026-08-18/new-chat/outputs/binance-btc-range-spot-long-short-125.html</a:t>
            </a:r>
          </a:p>
          <a:p>
            <a:pPr/>
            <a:r>
              <a:t>/Users/shiori/Documents/Codex/2026-08-18/new-chat/outputs/e3-consolidated-validation-2026-10-09.html</a:t>
            </a:r>
          </a:p>
          <a:p>
            <a:pPr/>
            <a:r>
              <a:t>/Users/shiori/Documents/Codex/2026-08-18/new-chat/outputs/bitbank-e3-btc-choice-validation.html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9" name="Shape 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20秒</a:t>
            </a:r>
          </a:p>
          <a:p>
            <a:pPr/>
          </a:p>
          <a:p>
            <a:pPr/>
            <a:r>
              <a:t>本編19枚で約20分。E3、MACD、回転Bot、ShortBotの順に報告し、19ページの今後の方針で締めくくります。前回発表のスライド自体は今回の元資料にないため、前回の具体的な数値との差分は断定せず、継続検討として報告します。</a:t>
            </a:r>
          </a:p>
          <a:p>
            <a:pPr/>
          </a:p>
          <a:p>
            <a:pPr/>
            <a:r>
              <a:t>出典：/Users/shiori/Documents/Codex/2026-08-18/new-chat/outputs/btcjpy-e3-exit-research-summary-2026-10-09.html</a:t>
            </a:r>
          </a:p>
          <a:p>
            <a:pPr/>
            <a:r>
              <a:t>/Users/shiori/Documents/Codex/2026-08-18/new-chat/outputs/btc-macd-research-summary-20261007-1753.html</a:t>
            </a:r>
          </a:p>
          <a:p>
            <a:pPr/>
            <a:r>
              <a:t>/Users/shiori/Documents/Codex/2026-08-18/new-chat/outputs/range-bot-complete-research-20261009.html</a:t>
            </a:r>
          </a:p>
          <a:p>
            <a:pPr/>
            <a:r>
              <a:t>/Users/shiori/Documents/Codex/2026-10-09/https-cdn-discordapp-com-attachments-1537461097089736774/outputs/fr_bot_research_report.html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3" name="Shape 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75秒</a:t>
            </a:r>
          </a:p>
          <a:p>
            <a:pPr/>
          </a:p>
          <a:p>
            <a:pPr/>
            <a:r>
              <a:t>10/8 Botter会の議論を受け、出口の工夫で成果が上がるのではないか、という仮説を検証しました。まず原型E3は完成日足終値がSMA50・100・200を上回る本数に応じ0%、1/3、2/3、100%を目標とし、翌日UTC始値で目標変更時だけ調整します。同じ本数の間は毎日目標へ戻す売買をしません。この原型に出口を1案ずつ追加し、価格出口とFR出口を別々に比較しました。価格出口は終値がSMA20以下なら最大2/3、判定足を除く直前20日安値を終値で下回れば全売却、保有開始後の最高終値−3ATR(14)を終値で下回れば全売却。ATRは14日間の値動きの大きさを表す指標で、基準線は下げません。追加全売却後は終値がSMA50を下から上へ抜き直した翌日からE3を再開します。出口と再購入をセットで変えた比較です。FRは先物の資金調達率で、現物Botでは売却の補助情報として使用し、現物口座に支払いはありません。完成UTC日内の確定FR合計が正、かつ判定日を除く直前180日の日次合計の95パーセンタイル以上なら過熱。スライドでは上位5%に入る水準と説明しています。過熱のみ、過熱とSMA20以下の同日成立、判定日を含む直近3日または7日に過熱があり当日終値がSMA20以下、という4案を別々に比較し、目標を最大2/3に制限します。3日案は判定日と前2日、7日案は判定日と前6日を確認します。条件解消で通常E3へ戻します。追加条件は目標を下げるための上限なので、原型の目標が1/3や0%なら2/3へ買い増す意味ではありません。全て日足確定後に判定して翌日UTC始値で調整、片道仮想費用0.11%です。</a:t>
            </a:r>
          </a:p>
          <a:p>
            <a:pPr/>
          </a:p>
          <a:p>
            <a:pPr/>
            <a:r>
              <a:t>出典：/Users/shiori/Documents/Codex/2026-08-18/new-chat/outputs/btcjpy-e3-exit-research-summary-2026-10-09.html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8" name="Shape 1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70秒</a:t>
            </a:r>
          </a:p>
          <a:p>
            <a:pPr/>
          </a:p>
          <a:p>
            <a:pPr/>
            <a:r>
              <a:t>2020〜2024年と2025年1月〜2026年8月の同じ価格出口比較です。長期E3の最大DDは48.30%。SMA20は利益を大きく減らし、3ATRは直近で改善しても長期利益・DDが悪化しました。表の累積損益と曲線は片道0.11%の費用を控除しています。グラフは保存済み日次資産から(資産/初期資産−1)×100で作成し、末尾に期末売却費用を反映しています。横軸は日付を連続年値へ変換し、年または半年を表示。各期間を初期資産1から独立開始しています。買い持ちも参考として表示。出典データ：/Users/shiori/Documents/Codex/2026-08-18/new-chat/work/e3-exit-strategy-results.json</a:t>
            </a:r>
          </a:p>
          <a:p>
            <a:pPr/>
          </a:p>
          <a:p>
            <a:pPr/>
            <a:r>
              <a:t>出典：/Users/shiori/Documents/Codex/2026-08-18/new-chat/outputs/btcjpy-e3-exit-research-summary-2026-10-09.html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1" name="Shape 1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75秒</a:t>
            </a:r>
          </a:p>
          <a:p>
            <a:pPr/>
          </a:p>
          <a:p>
            <a:pPr/>
            <a:r>
              <a:t>Hyperliquidの期間は2025年2月13日〜2026年8月31日。日次確定FR合計が正で過去180日の95パーセンタイル以上なら過熱です。7日窓でSMA20割れを確認すると最大2/3へ縮小。直近では2.84ポイント改善しましたが、追加縮小は2025年の3局面だけ。8月1日が改善の約半分に寄与します。BinanceのFRで2021〜2024年を再検証すると利益とDDが悪化。FR取引所と期間を同時に変えたため、原因を取引所差だけに帰せません。原型維持は小さいDDの保証ではありません。</a:t>
            </a:r>
          </a:p>
          <a:p>
            <a:pPr/>
          </a:p>
          <a:p>
            <a:pPr/>
            <a:r>
              <a:t>出典：/Users/shiori/Documents/Codex/2026-08-18/new-chat/outputs/btcjpy-e3-exit-research-summary-2026-10-09.html</a:t>
            </a:r>
          </a:p>
          <a:p>
            <a:pPr/>
            <a:br/>
            <a:r>
              <a:t>損益曲線：保存済み日次資産から(資産−1)×100で作成し、末尾に期末売却費用を反映。両期間は初期資産1から独立開始。片道仮想費用0.11%。横軸は連続年値。HyperliquidとBinanceはFR参照先で、現物価格はbitbank BTC/JPY。日次データ出典：/Users/shiori/Documents/Codex/2026-08-18/new-chat/work/e3-funding-lag-results.json</a:t>
            </a:r>
            <a:br/>
            <a:r>
              <a:t>/Users/shiori/Documents/Codex/2026-08-18/new-chat/work/e3-binance-funding-results.json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2" name="Shape 1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60秒</a:t>
            </a:r>
          </a:p>
          <a:p>
            <a:pPr/>
          </a:p>
          <a:p>
            <a:pPr/>
            <a:r>
              <a:t>追加出口の検証に続き、E3をどの銘柄・取引所・倍率で使うかを同じ評価期間で比較しました。銘柄はbitbank円建ての固定50/100/200、借入なし、各口座を現金から独立開始。BTC/JPYは期間損益−1.88%、日次最大DD−24.85%。ETH/JPYは+62.76%、DD−32.83%で利益は大きい一方、下落も深くなりました。全銘柄比較ではBNB+18.81%・DD−36.61%、XRP−24.18%・DD−55.97%、XLM−43.85%・DD−56.75%、LINK−0.83%・DD−43.69%、DOGE−35.72%・DD−46.39%。SOL・TRXは評価開始時のSMA助走不足で同じ窓に比較できません。1ページにはBTCとETHの代表比較を掲載しています。2021〜2024年の共通期間ではBTC+445.52%・DD−48.30%、ETH+446.44%・DD−54.65%で、利益はほぼ同じでもBTCのDDが小さめでした。直近で良かったETHを後から採用すれば銘柄選択の過去適合になるため、最良の銘柄とは断定しません。取引所はBTC/JPY現物の日足価格でbitbank−1.88%・DD−24.85%、GMOコイン−0.67%・DD−26.58%。共通訓練期間2022〜2024年もbitbank+224.21%、GMO+223.21%と近い結果です。両社に同じ片道0.11%を仮定しており、実際の手数料・板厚・未約定・API停止率は比較していません。また日足開始はGMO日本時間6時、bitbank日本時間9時で、取引所価格だけの比較ではありません。倍率はbitbank BTC/JPYの現物上限1倍と、3本すべてのSMAを上回る状態だけ最大1.25倍にする案を比較。0・1/3・2/3の状態は原型と同じ。借入JPYに日率0.04%の金利を仮定し、現物−1.88%・DD−24.77%、最大1.25倍−3.80%・DD−28.82%、金利累計は初期資産比1.65%でした。倍率比較モデルは日次評価時の費用計上が少し異なるため、現物専用モデルのDD−24.85%とは0.08ポイント違います。強制決済や発注失敗は未反映です。全体として最大利益を証明した候補ではなく、運用準備とリスクのバランスから、ユーザーの方針どおりbitbank BTC/JPY現物・上限1倍の原型を第一候補に残します。ETHは有力な比較候補。統合レポートのBTC・ETH並行観察の提案と、今回採用するBTC固定の運用方針は区別します。評価期間は既に見た過去相場で、真の未知データではありません。次ページでBTC現物を固定する具体的な運用ルールを説明します。</a:t>
            </a:r>
          </a:p>
          <a:p>
            <a:pPr/>
          </a:p>
          <a:p>
            <a:pPr/>
            <a:r>
              <a:t>出典：/Users/shiori/Documents/Codex/2026-08-18/new-chat/outputs/e3-consolidated-validation-2026-10-09.html</a:t>
            </a:r>
          </a:p>
          <a:p>
            <a:pPr/>
            <a:r>
              <a:t>/Users/shiori/Documents/Codex/2026-08-18/new-chat/outputs/bitbank-e3-btc-choice-validation.html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1" name="Shape 1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35秒</a:t>
            </a:r>
          </a:p>
          <a:p>
            <a:pPr/>
          </a:p>
          <a:p>
            <a:pPr/>
            <a:r>
              <a:t>実装・運用へ進める第一候補は、bitbankのBTC/JPY現物・日足E3原型です。最高利益を証明したBotではありませんが、上昇への参加、下落時の縮小、ルールの単純さを総合すると現時点で進めやすい候補です。bitbankの取引所現物板取引を使い、レバレッジは使いません。UTC日足は日本時間9時に確定します。終値のSMA50・100・200を用い、上回る本数が0、1、2、3本なら保有目標を0、1/3、2/3、100%とします。日足確定後に判定し、目標が変わったときだけ、Bot専用資産の時価評価額と費用を考慮した数量を調整します。同じ本数の間は毎日目標率へ戻さず、BTC数量を維持するので実際の保有率は価格で変わります。SMAを上回る本数が減れば段階的に売却し、0本なら全売却。固定利確、ATR、FRによる追加決済は採用しません。追加出口は別期間で安定して改善せず、原型E3の2020〜2024年は損益+1557.59%、最大DD−48.30%、2025年〜2026年8月は−1.88%、DD−24.85%です。ユーザー補足では1.25倍版は直近−3.80%と現物−1.88%より悪化したとされています。bitbankは価格データ・検証・ペーパーBotが揃っていることを選定理由とし、取引所として最良の証明とは扱いません。直近のETHの良好な損益だけで銘柄を選び直すことも避けます。まず固定したBTC現物E3でペーパー運用を続け、実際の売買価格、手数料、停止からの復旧を確認します。バックテストの翌日始値は、実運用では日本時間9時の確定後に取得・約定できた価格になります。今回、実注文や設定変更を実行したわけではありません。補足出典：ユーザーが提示した運用方針と条件。bitbank公式API案内 https://support.bitbank.cc/hc/ja/articles/360019410033-API%E3%81%AB%E3%81%A4%E3%81%84%E3%81%A6</a:t>
            </a:r>
          </a:p>
          <a:p>
            <a:pPr/>
          </a:p>
          <a:p>
            <a:pPr/>
            <a:r>
              <a:t>出典：/Users/shiori/Documents/Codex/2026-08-18/new-chat/outputs/btcjpy-e3-exit-research-summary-2026-10-09.html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6" name="Shape 1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70秒</a:t>
            </a:r>
          </a:p>
          <a:p>
            <a:pPr/>
          </a:p>
          <a:p>
            <a:pPr/>
            <a:r>
              <a:t>まず、MACDの時間足を日足から12時間足、4時間足へ短くしたときに成績が変化するか検証しました。比較設定は日足5/35/5、12時間足10/70/10、4時間足30/210/30で、EMAの実時間幅を概ね揃えています。MACDがシグナルを上回る完成足で買い保有、下回れば現金です。約定と資産評価は当初15分足で行いました。2020〜2024年では12時間足が累積損益・最大DDで日足を上回りましたが、2023〜2024年だけなら日足が上回り、2022年は全案赤字でした。したがって短くすれば常に良くなるとは言えません。全案の上昇環境の保有率は約50%であり、上昇参加を増やす余地が残りました。初期100万円、買いのみ・借入なし、片道手数料0.12%＋滑り0.05%。</a:t>
            </a:r>
          </a:p>
          <a:p>
            <a:pPr/>
          </a:p>
          <a:p>
            <a:pPr/>
            <a:r>
              <a:t>出典：/Users/shiori/Documents/Codex/2026-08-18/new-chat/outputs/btc-macd-research-summary-20261007-1753-15min.html</a:t>
            </a:r>
          </a:p>
          <a:p>
            <a:pPr/>
            <a:br/>
            <a:r>
              <a:t>損益曲線は元レポートの保存済み日次評価資産図。初期100万円、百万円単位・対数目盛。上昇環境の保有率は全案約50%。図の出典：/Users/shiori/Documents/Codex/2026-08-18/new-chat/outputs/btc-macd-training-only-2020-2024.html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Shape 1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85秒</a:t>
            </a:r>
          </a:p>
          <a:p>
            <a:pPr/>
          </a:p>
          <a:p>
            <a:pPr/>
            <a:r>
              <a:t>さらに精度を上げられるか、2022年の負け方から調べました。日足MACDは25取引で−42.1%、うち24回がSMA200より下の買いでした。日足SMA200より上だけ新規買いを認めると、共通期間2020年7月19日〜2024年末の損益は+694.5から+834.4%、15分DDは−59.5から−35.8%へ改善しましたが、2023年損益は+92.5から+49.9%となり上昇初期を取り逃しました。その後、SMA下の投資額を半分にする案と、MACD側50%・日足SMA側50%を合計する案を検討し、配分を12時間足と4時間足にも適用しました。12時間足MACD 10/70/10の50/50案を中心にSMA期間や判定幅を比較。表は2020年8月8日〜2024年末に揃えた当初15分評価の結果で、前のスライドとは開始日が異なります。SMA100はSMA側を100日に変更。±3%はSMA200の103%より上でオン、97%より下でオフ、その間は状態を維持。傾き追加と売り2本確認は悪化。SMA100の2022年損益は−21.1%で従来−13.6%を下回り、追加改善は特に2021年に依存します。訓練データでの候補選択なので採用確定ではありません。</a:t>
            </a:r>
          </a:p>
          <a:p>
            <a:pPr/>
          </a:p>
          <a:p>
            <a:pPr/>
            <a:r>
              <a:t>出典：/Users/shiori/Documents/Codex/2026-08-18/new-chat/outputs/btc-macd-research-summary-20261007-1753-15min.html</a:t>
            </a:r>
          </a:p>
          <a:p>
            <a:pPr/>
            <a:r>
              <a:t>/Users/shiori/Documents/Codex/2026-08-18/new-chat/outputs/btc-macd-overfitting-audit-training-30min.html</a:t>
            </a:r>
          </a:p>
          <a:p>
            <a:pPr/>
            <a:br/>
            <a:r>
              <a:t>損益曲線は元レポートの保存済み日次評価資産図。初期100万円、百万円単位・対数目盛。追加比較した売り2本確認案も参考として掲載。図の出典：/Users/shiori/Documents/Codex/2026-08-18/new-chat/outputs/btc-macd-hold-rules-training-2020-2024.html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9" name="Shape 18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50秒</a:t>
            </a:r>
          </a:p>
          <a:p>
            <a:pPr/>
          </a:p>
          <a:p>
            <a:pPr/>
            <a:r>
              <a:t>ここまでの検証を経て、10/8 Botter会後に15分足から30分足への変更を検証しました。変えたのは約定基準価格と資産評価の粒度で、MACDの売買判断は日足・12時間足・4時間足の確定指標のままです。15分足2本を30分足へ集約しました。現在のモデルでは、確定直後の時刻に始まる足の始値で約定させるため、15分版と30分版の約定始値は一致し、30分待ってから売買する変更ではありません。111組で売買記録、累積損益、注文数、日次損益曲線が一致しました。表は±3%案の共通期間2020年8月8日〜2024年末。15分DD−44.78%、30分DD−44.74%です。観測頻度を半分にすると一時的な高値や安値を見逃し、DDが浅く見えることがあります。実際の売買損失が減ったとは解釈しません。今後はSMA100と±3%を固定して未使用期間で確認します。</a:t>
            </a:r>
          </a:p>
          <a:p>
            <a:pPr/>
          </a:p>
          <a:p>
            <a:pPr/>
            <a:r>
              <a:t>出典：/Users/shiori/Documents/Codex/2026-08-18/new-chat/outputs/btc-macd-execution-15-vs-30min-training-2020-2024.html</a:t>
            </a:r>
          </a:p>
          <a:p>
            <a:pPr/>
            <a:r>
              <a:t>/Users/shiori/Documents/Codex/2026-08-18/new-chat/outputs/btc-macd-research-summary-20261007-1753.html</a:t>
            </a:r>
          </a:p>
          <a:p>
            <a:pPr/>
            <a:r>
              <a:t>/Users/shiori/Documents/Codex/2026-08-18/new-chat/outputs/btc-macd-overfitting-audit-training-30min.html</a:t>
            </a:r>
          </a:p>
          <a:p>
            <a:pPr/>
            <a:br/>
            <a:r>
              <a:t>損益曲線は15分版・30分版で一致する日次評価資産。各候補について1本で示しており、15分版と30分版の線が重なっています。初期100万円、百万円単位・対数目盛、共通期間2020年8月8日〜2024年末。図の出典：/Users/shiori/Documents/Codex/2026-08-18/new-chat/outputs/btc-macd-execution-15-vs-30min-training-2020-2024.html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8" name="Shape 1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35秒</a:t>
            </a:r>
          </a:p>
          <a:p>
            <a:pPr/>
          </a:p>
          <a:p>
            <a:pPr/>
            <a:r>
              <a:t>MACDの実践・運用へ進める第一候補は、bitbankのBTC/JPY現物で12時間足MACD 10/70/10と日足SMA100を各50%の持ち分として組み合わせる固定仕様です。MACDは終値のEMA10−EMA70、シグナルはMACDのEMA10。完成済み12時間足でMACDがシグナルを上回れば条件Aが成立します。日足終値がSMA100を上回れば条件Bが成立。どちらも同値以下は不成立です。両方成立ならBTC目標100%、片方成立なら50%、両方不成立なら0%。分母はこのBotに割り当てた円残高とBTC評価額の合計で、費用を考慮して必要な差額を注文します。目標が変わったときだけ調整し、同じ目標の間はBTC数量を維持して毎回50%へ戻しません。日本時間9時は12時間足MACDと日足条件を両方更新し、21時はMACDを更新して日足条件は直近の確定値を維持します。30分足は約定再現・資産評価用で、30分ごとにMACDシグナルを作る案ではありません。MACDだけが売り状態でもSMA100条件が成立すれば50%を残し、両条件が不成立なら全売却。固定利確・固定損切り・ATR・時間切れなどの追加決済は採用しません。共通訓練期間2020年8月8日〜2024年末の損益+963.95%、30分DD−38.86%、年率Sharpe1.314で主要3候補の比較では良好でした。ただし未使用期間での優位性は未確認です。2021年に改善が偏り、2022年は従来案より損失が悪化しました。SMA100案を固定してペーパー検証し、従来SMA200案を比較対象に残します。実際の手数料・最小数量・停止状態の確認、足欠損や未確定時の注文抑止、二重発注防止、部分約定・残高照合を実装で確認します。成績に安全対策の効果を加算していません。今回、Botの実装・設定変更・起動・実注文は行っていません。</a:t>
            </a:r>
          </a:p>
          <a:p>
            <a:pPr/>
          </a:p>
          <a:p>
            <a:pPr/>
            <a:r>
              <a:t>出典：/Users/shiori/Documents/Codex/2026-08-18/new-chat/outputs/btc-macd-leading-bot-report-20261013.html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Shape 2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65秒</a:t>
            </a:r>
          </a:p>
          <a:p>
            <a:pPr/>
          </a:p>
          <a:p>
            <a:pPr/>
            <a:r>
              <a:t>最初に良い結果が得られた指値回転G/H案を紹介します。通常レンジの初期成行・反発案が良かったという意味ではなく、反発確認後の成行を0.214／0.786の指値へ変えた段階です。4時間足の確定時に、完成した直近20本の最高値・最安値を下限0・上限1のレンジとして更新し、ADX14が20未満なら注文を許可します。ロングは0.214で買い、0.786で利確。ショートは0.786で売り、0.214で利確。Gはレンジ境界で損切り、Hは境界から0.5ATR14外に損切り。同時1建玉で、費用込み予定損失は資産0.5%以内、元本は資産以内です。未約定は次の4時間足確定で取消・更新し、片側約定後は反対注文を取り消します。約定後の範囲と出口は固定。決済後は次の4時間足確定まで再注文しません。図はG案の第6取引、2026年9月13日22時のロングから9月14日の利確までを含む15分足終値の実際のモデル取引例です。緑丸が買い、赤い逆三角が売り決済、紫がレンジ、緑水平線が利確、赤水平線が損切り。例の純損益は+112.24 USDCですが、代表的な成功例であり全取引の代表成績ではありません。全体ではG11取引+3.96%、PF2.56、DD−2.82%、H11取引+3.11%、PF2.53、DD−1.46%。手数料・滑り・近似FRを含む探索的な短期結果です。</a:t>
            </a:r>
          </a:p>
          <a:p>
            <a:pPr/>
          </a:p>
          <a:p>
            <a:pPr/>
            <a:r>
              <a:t>出典：/Users/shiori/Documents/Codex/2026-08-18/new-chat/outputs/hyperliquid-btc-range-limit-stops.html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9" name="Shape 2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70秒</a:t>
            </a:r>
          </a:p>
          <a:p>
            <a:pPr/>
          </a:p>
          <a:p>
            <a:pPr/>
            <a:r>
              <a:t>短期の好成績を長期でも再現できるか確認しました。Hyperliquidの約2年4時間足の粗い検証では通常G−8.99%、H−6.20%。Binance2020〜2024年の15分足ではG−21.51%、H−20.88%で、短期だけの一般化はできませんでした。そこで急変後の持ち合いに参加を限定する改善案を検証。完成4時間足の終値が3本前から直前ATR14の3倍以上動き、その後6本の高安幅が急変幅の半分以下なら固定レンジを認定します。ADXは使わず、確認後の足から参加し、境界を抜けたら無効化します。指値の0.214／0.786は維持。反対側利確Gは19取引+1.05%。利確位置と損切りを比較すると、中央0.5利確Hは34取引+1.38%でした。図は同じBinance期間の通常G/H、急変後の0.786G、中央Hの評価資産曲線で、初期資産を100%としています。短期Hyperliquidから市場と期間も変わるため、差をルールだけの因果効果とは断定しません。中央Hもストレスで−0.04%でした。</a:t>
            </a:r>
          </a:p>
          <a:p>
            <a:pPr/>
          </a:p>
          <a:p>
            <a:pPr/>
            <a:r>
              <a:t>出典：/Users/shiori/Documents/Codex/2026-08-18/new-chat/outputs/range-bot-research-overview-20261008.html</a:t>
            </a:r>
          </a:p>
          <a:p>
            <a:pPr/>
            <a:r>
              <a:t>/Users/shiori/Documents/Codex/2026-08-18/new-chat/outputs/range-bot-complete-research-20261009.html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4" name="Shape 2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60秒</a:t>
            </a:r>
          </a:p>
          <a:p>
            <a:pPr/>
          </a:p>
          <a:p>
            <a:pPr/>
            <a:r>
              <a:t>さらに時間足と建玉方式を比較しました。急変後レンジの中央Hを4、8、12時間足で比較すると、4h34取引+1.38%、8h7取引−0.53%、12h6取引+0.72%です。3本急変と6本確認を各時間足へ適用するため、イベントの実時間幅も変わり、時間足だけの効果ではありません。現物ロングとショート数量1.25倍の4h案は+1.62%ですが、DDは−1.58%と通常の−1.32%より深く、ショートの予定損失も0.5%から0.625%へ増えます。図は4hの先物1x対称、現物ロング＋ショート1x、現物ロング＋ショート1.25xの保存済み曲線。1x現物併用は+1.40%です。高コストの1.25倍案は33取引−0.04%、PF0.99で、同じ曲線としては描いていません。手数料・損切り滑りを片道0.10%、指値通過を0.05%にしたストレスです。取引所費用を反映した別比較は2024年6月20日〜2026年8月31日、4時間足約定でbitbank10取引+0.45%、HL11取引+1.20%。価格やコスト条件も異なり少数取引なので採用根拠は不足。実装・実注文は保留し、条件を固定して将来の約定・費用・件数を記録する判断です。</a:t>
            </a:r>
          </a:p>
          <a:p>
            <a:pPr/>
          </a:p>
          <a:p>
            <a:pPr/>
            <a:r>
              <a:t>出典：/Users/shiori/Documents/Codex/2026-08-18/new-chat/outputs/binance-btc-range-timeframe-comparison.html</a:t>
            </a:r>
          </a:p>
          <a:p>
            <a:pPr/>
            <a:r>
              <a:t>/Users/shiori/Documents/Codex/2026-08-18/new-chat/outputs/binance-btc-range-spot-long-short-125.html</a:t>
            </a:r>
          </a:p>
          <a:p>
            <a:pPr/>
            <a:r>
              <a:t>/Users/shiori/Documents/Codex/2026-08-18/new-chat/outputs/range-bot-complete-research-20261009.html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7" name="Shape 2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75秒</a:t>
            </a:r>
          </a:p>
          <a:p>
            <a:pPr/>
          </a:p>
          <a:p>
            <a:pPr/>
            <a:r>
              <a:t>提供された研究レポートの元ノートブック検証を、りょうPさんBot検証の入口として紹介します。S0 lag2の累積52,594bpsは再現できましたが、日次率の単純合計で口座+525.94%を意味しません。元のS0は負のbasisが小さい2銘柄を2暦日後にショートする戦略。A0はbasis偏差と先物リターンの順位から翌日にショート。DOGE、ETH、SOL、XRPの移植版では元A0・S0とも赤字でした。これは元ノートブックが計算上間違いだったという話ではなく、対象・費用・資金配分を入れた実用モデルでは収益性が未確認ということです。</a:t>
            </a:r>
          </a:p>
          <a:p>
            <a:pPr/>
          </a:p>
          <a:p>
            <a:pPr/>
            <a:r>
              <a:t>出典：/Users/shiori/Documents/Codex/2026-10-09/https-cdn-discordapp-com-attachments-1537461097089736774/outputs/fr_bot_research_report.html</a:t>
            </a:r>
          </a:p>
          <a:p>
            <a:pPr/>
            <a:br/>
            <a:r>
              <a:t>追加した3つの損益曲線について。元資料は全銘柄版の日次bpsを単純累積した曲線で、口座の複利損益ではありません。A0 Top2は2022年1月22日〜2026年5月22日、S0 lag2は2021年1月1日〜2026年5月21日の有効日次結果を用い、各系列の開始日から累積しています。A0の未稼働日は開始後の横ばい区間として表示。2025年以降だけのS0累積52,594bpsとは開始日が違います。移植後はDOGE・ETH・SOL・XRPの4銘柄版。2025年7月1日〜2026年10月8日、465日、建玉予算10%を反映した口座リターンを複利計算しています。横軸は開始からの日数。bitbankは初期10万円のJPY建て信用売り、Hyperliquidは初期1,000 USDCの無期限先物です。両グラフともA0は緑、S0は赤。保存済みCSVの日次戦略リターンは建玉予算に対する値なので口座予算10%を乗じており、期末値が原レポートのA0・S0成績と一致することを確認しています。旧・数量制約なしモデルです。価格・通貨・費用や対象が違うので元データと移植後の優劣をそのまま比較しません。データ出典：/Users/shiori/Documents/Codex/2026-10-09/https-cdn-discordapp-com-attachments-1537461097089736774/outputs/s0_validation/daily_curves.csv</a:t>
            </a:r>
            <a:br/>
            <a:r>
              <a:t>/Users/shiori/Documents/Codex/2026-10-09/https-cdn-discordapp-com-attachments-1537461097089736774/outputs/bitbank_validation/daily_returns.csv</a:t>
            </a:r>
            <a:br/>
            <a:r>
              <a:t>/Users/shiori/Documents/Codex/2026-10-09/https-cdn-discordapp-com-attachments-1537461097089736774/outputs/hyperliquid_validation/daily_returns.csv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7" name="Shape 2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85秒</a:t>
            </a:r>
          </a:p>
          <a:p>
            <a:pPr/>
          </a:p>
          <a:p>
            <a:pPr/>
            <a:r>
              <a:t>15ページの元A0に追加条件を入れた検証です。対象はDOGE・ETH・SOL・XRP。SOL/BTC先物価格比が180日平均より低い日だけ、basis偏差順位70%＋先物リターン順位30%で上位2候補を選びます。basisは先物終値／現物終値−1。偏差は当日を含まない過去21本の日足平均との差です。順位後にスコア0.30以上、シグナル日のFR合計が正、の2条件で絞ります。FRは資金調達率で、正なら通常ショート側が受け取ります。不採用枠の繰り上げはせず、翌暦日の始値でショートし、同日の終値で買い戻します。旧・数量制約なしモデルでHyperliquidの元A0−2.68%から+3.26%へ改善しました。同じ2025年7月1日〜2026年10月8日の比較です。12条件を過去成績から選び直す手順は−3.55%で、過去の良好な条件を先に選べるとは限りません。18ページでは数量精度・最低注文額を反映するため単独成績は+3.21%です。</a:t>
            </a:r>
          </a:p>
          <a:p>
            <a:pPr/>
          </a:p>
          <a:p>
            <a:pPr/>
            <a:r>
              <a:t>出典：/Users/shiori/Documents/Codex/2026-10-09/https-cdn-discordapp-com-attachments-1537461097089736774/outputs/fr_bot_research_report.html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9" name="Shape 2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65秒</a:t>
            </a:r>
          </a:p>
          <a:p>
            <a:pPr/>
          </a:p>
          <a:p>
            <a:pPr/>
            <a:r>
              <a:t>FRペアは過去60日相関0.70以上、BTCベータ差0.25以下、30日平均Hyperliquid売買代金100万ドル以上、7日FR差が正で最大の組を選びます。A0とFRペアを共通口座で併用し、新規建玉の仮想予算を50:50配分します。スライドは初期口座1,000 USDC、全体予算10%の場合の例です。A0は最大50 USDC、上位2候補に最大25 USDCずつ。FRペアも合計50 USDC、売り25・買い25です。条件を満たさない枠は現金で残し、同じ銘柄の注文は合算します。数量や保有時間の違いによって実際の総建玉は変わるため、常に10%へ戻す意味ではありません。FR差の受取だけで利益は決まらず、価格差と費用にも左右されます。2日確認は方向を含む同一ペアが2日連続首位なら初回採用・切替し、次の日の注文で反映する案です。旧ペアが適格なら一日だけ順位が変わっても維持。不適格になれば2日を待たず翌日解消を目指します。数量精度と最低10ドルを反映し、小口在庫は持ち越します。両脚の同時全量約定を保証する実装ではありません。</a:t>
            </a:r>
          </a:p>
          <a:p>
            <a:pPr/>
          </a:p>
          <a:p>
            <a:pPr/>
            <a:r>
              <a:t>出典：/Users/shiori/Documents/Codex/2026-10-09/https-cdn-discordapp-com-attachments-1537461097089736774/outputs/fr_bot_research_report.html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2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1" name="Shape 2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85秒</a:t>
            </a:r>
          </a:p>
          <a:p>
            <a:pPr/>
          </a:p>
          <a:p>
            <a:pPr/>
            <a:r>
              <a:t>全て手数料0.045%と片道滑り0.05%を控除し、数量精度・最低注文額を反映した口座期間収益率です。DDは日次終値による最大ドローダウン、すなわち資産の最高値からの最大下落です。A0単独+3.21%・DD−2.24%、A0＋FRペア50:50は+2.71%・DD−1.36%、併用＋2日確認は+3.68%・DD−1.18%。グラフは保存済み日次口座資産を(資産/1000−1)×100で描き、初期値0を加えています。3案とも同じ465日です。直接切替は108回から49回、売買費用は17.00から15.06 USDCで約11%減少しました。増加利益9.74 USDCのうち費用減は1.93、価格損益増8.18、FR収支差−0.37で、改善を費用だけでは説明できません。片道滑りを0.20%とする追加試算では併用基準+0.02%に対し2日確認+1.33%。建玉と保有時間が違うため同一リスクでの優劣ではありません。平均総建玉は2日確認で5.14%。年率ではなく過去の期間損益です。データ出典：/Users/shiori/Documents/Codex/2026-10-09/https-cdn-discordapp-com-attachments-1537461097089736774/outputs/fr_robustness/daily_accounts.csv と fr_pair_improvement/daily_accounts.csv。</a:t>
            </a:r>
          </a:p>
          <a:p>
            <a:pPr/>
          </a:p>
          <a:p>
            <a:pPr/>
            <a:r>
              <a:t>出典：/Users/shiori/Documents/Codex/2026-10-09/https-cdn-discordapp-com-attachments-1537461097089736774/outputs/fr_bot_research_report.html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3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1" name="Shape 3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目安 85秒</a:t>
            </a:r>
          </a:p>
          <a:p>
            <a:pPr/>
          </a:p>
          <a:p>
            <a:pPr/>
            <a:r>
              <a:t>18ページの2日確認案について、黒字の理由と残る弱点を確認します。基本の片道滑り0.05%・手数料0.045%のモデルです。FRの現金受取だけをゼロにし、支払いを残しても期間損益は+3.15%。選別には元の実FRを使うので、これはFR収入への依存度を調べた試算で、FR選別の予測力を証明したものではありません。次にXRPをA0とFRペア双方の取引対象から除外すると、基準50:50は+1.47%、2日確認は+1.19%となり、基準を上回る改善が消えます。空き枠は繰り上げず、外部シグナルは維持します。平均建玉も変わるため同じリスクの比較ではありません。片道滑り0.20%では、SOL除外−0.29%、XRP除外−0.73%で赤字条件も残ります。同一口座の90日損益を開始日を1日ずつずらして集計すると、376区間のうち42区間が赤字、最悪は2026年3月4日〜6月1日の−0.84%。基準は56区間が赤字ですが、最悪−0.83%で、最悪90日損益は改善していません。区間は重複し、独立した試行や将来の勝率ではありません。基本コストでの基準との差の95%区間−0.016〜+0.432bpsはゼロを含み、改善が偶然でないと判断できる段階ではありません。したがって2日確認案を研究候補として残し、条件をさらに過去成績に合わせて調整せず、ルールを固定したペーパー運用で基準50:50と将来比較します。約定価格・手数料・片側約定を記録して机上モデルとの差も確認する方針です。</a:t>
            </a:r>
          </a:p>
          <a:p>
            <a:pPr/>
          </a:p>
          <a:p>
            <a:pPr/>
            <a:r>
              <a:t>出典：/Users/shiori/Documents/Codex/2026-10-09/https-cdn-discordapp-com-attachments-1537461097089736774/outputs/fr_bot_research_report.html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</p:spPr>
        <p:txBody>
          <a:bodyPr anchor="ctr"/>
          <a:lstStyle/>
          <a:p>
            <a:pPr/>
            <a:r>
              <a:t>タイトルテキスト</a:t>
            </a:r>
          </a:p>
        </p:txBody>
      </p:sp>
      <p:sp>
        <p:nvSpPr>
          <p:cNvPr id="12" name="本文レベル1…"/>
          <p:cNvSpPr txBox="1"/>
          <p:nvPr>
            <p:ph type="body" sz="quarter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SzTx/>
              <a:buNone/>
            </a:lvl1pPr>
            <a:lvl2pPr marL="0" indent="0">
              <a:spcBef>
                <a:spcPts val="0"/>
              </a:spcBef>
              <a:buSzTx/>
              <a:buNone/>
            </a:lvl2pPr>
            <a:lvl3pPr marL="0" indent="0">
              <a:spcBef>
                <a:spcPts val="0"/>
              </a:spcBef>
              <a:buSzTx/>
              <a:buNone/>
            </a:lvl3pPr>
            <a:lvl4pPr marL="0" indent="0">
              <a:spcBef>
                <a:spcPts val="0"/>
              </a:spcBef>
              <a:buSzTx/>
              <a:buNone/>
            </a:lvl4pPr>
            <a:lvl5pPr marL="0" indent="0">
              <a:spcBef>
                <a:spcPts val="0"/>
              </a:spcBef>
              <a:buSzTx/>
              <a:buNone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テキスト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</p:spPr>
        <p:txBody>
          <a:bodyPr anchor="ctr"/>
          <a:lstStyle/>
          <a:p>
            <a:pPr/>
            <a:r>
              <a:t>タイトルテキスト</a:t>
            </a:r>
          </a:p>
        </p:txBody>
      </p:sp>
      <p:sp>
        <p:nvSpPr>
          <p:cNvPr id="2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29" name="本文レベル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0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38" name="本文レベル1…"/>
          <p:cNvSpPr txBox="1"/>
          <p:nvPr>
            <p:ph type="body" sz="half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</p:spPr>
        <p:txBody>
          <a:bodyPr/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9" name="Right column"/>
          <p:cNvSpPr/>
          <p:nvPr>
            <p:ph type="body" sz="half" idx="21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48" name="本文レベル1…"/>
          <p:cNvSpPr txBox="1"/>
          <p:nvPr>
            <p:ph type="body" sz="half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</p:spPr>
        <p:txBody>
          <a:bodyPr/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テキスト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タイトルテキスト</a:t>
            </a:r>
          </a:p>
        </p:txBody>
      </p:sp>
      <p:sp>
        <p:nvSpPr>
          <p:cNvPr id="3" name="本文レベル1…"/>
          <p:cNvSpPr txBox="1"/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titleStyle>
    <p:bodyStyle>
      <a:lvl1pPr marL="228600" marR="0" indent="-228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571500" marR="0" indent="-2667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929639" marR="0" indent="-320039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12700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15748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18796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21844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24892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27940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2026.10.15"/>
          <p:cNvSpPr txBox="1"/>
          <p:nvPr/>
        </p:nvSpPr>
        <p:spPr>
          <a:xfrm>
            <a:off x="655319" y="600075"/>
            <a:ext cx="10386061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5CE0D3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2026.10.15</a:t>
            </a:r>
          </a:p>
        </p:txBody>
      </p:sp>
      <p:sp>
        <p:nvSpPr>
          <p:cNvPr id="66" name="Botの研究報告"/>
          <p:cNvSpPr txBox="1"/>
          <p:nvPr/>
        </p:nvSpPr>
        <p:spPr>
          <a:xfrm>
            <a:off x="655319" y="2009775"/>
            <a:ext cx="10881361" cy="828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5800">
                <a:solidFill>
                  <a:srgbClr val="FFFFFF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Botの研究報告</a:t>
            </a:r>
          </a:p>
        </p:txBody>
      </p:sp>
      <p:sp>
        <p:nvSpPr>
          <p:cNvPr id="67" name="10月8日 Botter会からの継続検証"/>
          <p:cNvSpPr txBox="1"/>
          <p:nvPr/>
        </p:nvSpPr>
        <p:spPr>
          <a:xfrm>
            <a:off x="702944" y="3228975"/>
            <a:ext cx="10386061" cy="364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BBCDD7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10月8日 Botter会からの継続検証</a:t>
            </a:r>
          </a:p>
        </p:txBody>
      </p:sp>
      <p:sp>
        <p:nvSpPr>
          <p:cNvPr id="68" name="01 E3の追加検証…"/>
          <p:cNvSpPr txBox="1"/>
          <p:nvPr/>
        </p:nvSpPr>
        <p:spPr>
          <a:xfrm>
            <a:off x="702944" y="4438650"/>
            <a:ext cx="10386061" cy="1348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D5E3E9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01　E3の追加検証</a:t>
            </a:r>
          </a:p>
          <a:p>
            <a:pPr>
              <a:defRPr>
                <a:solidFill>
                  <a:srgbClr val="D5E3E9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02　MACD</a:t>
            </a:r>
          </a:p>
          <a:p>
            <a:pPr>
              <a:defRPr>
                <a:solidFill>
                  <a:srgbClr val="D5E3E9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03　回転Bot</a:t>
            </a:r>
          </a:p>
          <a:p>
            <a:pPr>
              <a:defRPr>
                <a:solidFill>
                  <a:srgbClr val="D5E3E9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04　りょうPさんBot検証からのShortBotの検討</a:t>
            </a:r>
          </a:p>
        </p:txBody>
      </p:sp>
      <p:sp>
        <p:nvSpPr>
          <p:cNvPr id="69" name="01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9AB8C8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本日の構成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本日の構成</a:t>
            </a:r>
          </a:p>
        </p:txBody>
      </p:sp>
      <p:sp>
        <p:nvSpPr>
          <p:cNvPr id="74" name="4つの研究と現在の判断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4つの研究と現在の判断</a:t>
            </a:r>
          </a:p>
        </p:txBody>
      </p:sp>
      <p:sp>
        <p:nvSpPr>
          <p:cNvPr id="75" name="本編 約20分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本編 約20分</a:t>
            </a:r>
          </a:p>
        </p:txBody>
      </p:sp>
      <p:sp>
        <p:nvSpPr>
          <p:cNvPr id="76" name="02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02</a:t>
            </a:r>
          </a:p>
        </p:txBody>
      </p:sp>
      <p:graphicFrame>
        <p:nvGraphicFramePr>
          <p:cNvPr id="77" name="表1"/>
          <p:cNvGraphicFramePr/>
          <p:nvPr/>
        </p:nvGraphicFramePr>
        <p:xfrm>
          <a:off x="609600" y="2524125"/>
          <a:ext cx="10972800" cy="319087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238500"/>
                <a:gridCol w="7734300"/>
              </a:tblGrid>
              <a:tr h="638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研究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現在の判断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1. E3の追加検証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追加出口・銘柄・取引所・倍率を比較し、BTC現物を第一候補に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2. MACD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SMA100案を第一候補に、従来SMA200案とペーパー比較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3. 回転Bot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急変後レンジを候補として保留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4. ShortBotの検討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A0＋FRペアの2日確認案を固定候補に残す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1. E3の追加検証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1. E3の追加検証</a:t>
            </a:r>
          </a:p>
        </p:txBody>
      </p:sp>
      <p:sp>
        <p:nvSpPr>
          <p:cNvPr id="82" name="E3の売却を早めると、成果は上がるか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E3の売却を早めると、成果は上がるか</a:t>
            </a:r>
          </a:p>
        </p:txBody>
      </p:sp>
      <p:sp>
        <p:nvSpPr>
          <p:cNvPr id="83" name="10/8 Botter会を受け、出口の工夫で成果が上がるのではないか…"/>
          <p:cNvSpPr txBox="1"/>
          <p:nvPr/>
        </p:nvSpPr>
        <p:spPr>
          <a:xfrm>
            <a:off x="655319" y="1752600"/>
            <a:ext cx="10881361" cy="643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10/8 Botter会を受け、出口の工夫で成果が上がるのではないか</a:t>
            </a:r>
          </a:p>
          <a:p>
            <a: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という仮説を検証。各ルールを原型E3に追加して、別々に比較</a:t>
            </a:r>
          </a:p>
        </p:txBody>
      </p:sp>
      <p:sp>
        <p:nvSpPr>
          <p:cNvPr id="84" name="03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85" name="原型E3：終値がSMA50・100・200を上回る本数で、保有目標を決める…"/>
          <p:cNvSpPr txBox="1"/>
          <p:nvPr/>
        </p:nvSpPr>
        <p:spPr>
          <a:xfrm>
            <a:off x="655319" y="2381250"/>
            <a:ext cx="10881361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solidFill>
                  <a:srgbClr val="142C3E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原型E3：終値がSMA50・100・200を上回る本数で、保有目標を決める</a:t>
            </a:r>
          </a:p>
          <a:p>
            <a:pPr>
              <a:defRPr sz="1600">
                <a:solidFill>
                  <a:srgbClr val="142C3E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0本＝0%、1本＝1/3、2本＝2/3、3本＝100%</a:t>
            </a:r>
          </a:p>
          <a:p>
            <a:pPr>
              <a:defRPr sz="1600">
                <a:solidFill>
                  <a:srgbClr val="142C3E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日足確定後に判定し、目標が変わったときだけ翌日UTC始値で調整</a:t>
            </a:r>
          </a:p>
        </p:txBody>
      </p:sp>
      <p:sp>
        <p:nvSpPr>
          <p:cNvPr id="86" name="価格を見て売る3案"/>
          <p:cNvSpPr txBox="1"/>
          <p:nvPr/>
        </p:nvSpPr>
        <p:spPr>
          <a:xfrm>
            <a:off x="655319" y="3276600"/>
            <a:ext cx="5242561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価格を見て売る3案</a:t>
            </a:r>
          </a:p>
        </p:txBody>
      </p:sp>
      <p:sp>
        <p:nvSpPr>
          <p:cNvPr id="87" name="FRの過熱を見て売る4案"/>
          <p:cNvSpPr txBox="1"/>
          <p:nvPr/>
        </p:nvSpPr>
        <p:spPr>
          <a:xfrm>
            <a:off x="6294120" y="3276600"/>
            <a:ext cx="5242560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FRの過熱を見て売る4案</a:t>
            </a:r>
          </a:p>
        </p:txBody>
      </p:sp>
      <p:graphicFrame>
        <p:nvGraphicFramePr>
          <p:cNvPr id="88" name="表1"/>
          <p:cNvGraphicFramePr/>
          <p:nvPr/>
        </p:nvGraphicFramePr>
        <p:xfrm>
          <a:off x="609600" y="3705225"/>
          <a:ext cx="5334000" cy="19431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810000"/>
                <a:gridCol w="1524000"/>
              </a:tblGrid>
              <a:tr h="381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売る条件（終値で判断）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保有目標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SMA20以下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最大2/3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直前20日安値を割る（当日は除く）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0%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保有開始後の最高終値
−3ATR(14)を割る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0%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表1"/>
          <p:cNvGraphicFramePr/>
          <p:nvPr/>
        </p:nvGraphicFramePr>
        <p:xfrm>
          <a:off x="6248400" y="3705225"/>
          <a:ext cx="5334000" cy="19431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810000"/>
                <a:gridCol w="1524000"/>
              </a:tblGrid>
              <a:tr h="381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売る条件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保有目標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FRの過熱が発生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最大2/3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過熱＋SMA20以下が同日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最大2/3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直近3日／7日内に過熱
＋当日終値がSMA20以下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最大2/3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" name="ATRは値動きの大きさ（14日）。基準線は下げない…"/>
          <p:cNvSpPr txBox="1"/>
          <p:nvPr/>
        </p:nvSpPr>
        <p:spPr>
          <a:xfrm>
            <a:off x="655319" y="5800725"/>
            <a:ext cx="5242561" cy="580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5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ATRは値動きの大きさ（14日）。基準線は下げない</a:t>
            </a:r>
          </a:p>
          <a:p>
            <a:pPr>
              <a:defRPr sz="15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全売却後は、SMA50上抜けの翌日から再開</a:t>
            </a:r>
          </a:p>
        </p:txBody>
      </p:sp>
      <p:sp>
        <p:nvSpPr>
          <p:cNvPr id="91" name="過熱＝FRの日次合計が正で、直前180日の上位5%…"/>
          <p:cNvSpPr txBox="1"/>
          <p:nvPr/>
        </p:nvSpPr>
        <p:spPr>
          <a:xfrm>
            <a:off x="6294120" y="5800725"/>
            <a:ext cx="5242560" cy="580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5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過熱＝FRの日次合計が正で、直前180日の上位5%</a:t>
            </a:r>
          </a:p>
          <a:p>
            <a:pPr>
              <a:defRPr sz="15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FRは先物の資金調達率。条件解消で原型E3へ戻す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1. E3の追加検証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1. E3の追加検証</a:t>
            </a:r>
          </a:p>
        </p:txBody>
      </p:sp>
      <p:sp>
        <p:nvSpPr>
          <p:cNvPr id="96" name="価格出口は、両期間での改善を再現できず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価格出口は、両期間での改善を再現できず</a:t>
            </a:r>
          </a:p>
        </p:txBody>
      </p:sp>
      <p:sp>
        <p:nvSpPr>
          <p:cNvPr id="97" name="各期間で独立開始。損益曲線は費用控除後の累積損益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各期間で独立開始。損益曲線は費用控除後の累積損益</a:t>
            </a:r>
          </a:p>
        </p:txBody>
      </p:sp>
      <p:sp>
        <p:nvSpPr>
          <p:cNvPr id="98" name="04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04</a:t>
            </a:r>
          </a:p>
        </p:txBody>
      </p:sp>
      <p:graphicFrame>
        <p:nvGraphicFramePr>
          <p:cNvPr id="99" name="表1"/>
          <p:cNvGraphicFramePr/>
          <p:nvPr/>
        </p:nvGraphicFramePr>
        <p:xfrm>
          <a:off x="609600" y="2562225"/>
          <a:ext cx="4105275" cy="273367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90625"/>
                <a:gridCol w="1552575"/>
                <a:gridCol w="1362075"/>
              </a:tblGrid>
              <a:tr h="54673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案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2020〜24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2025〜26/8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原型E3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+1557.59%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−1.88%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SMA20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+1253.84%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−0.69%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20日安値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+1168.98%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−5.71%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3ATR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+650.74%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+1.62%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pic>
        <p:nvPicPr>
          <p:cNvPr id="100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19675" y="2190750"/>
            <a:ext cx="6858000" cy="3676650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原型E3"/>
          <p:cNvSpPr txBox="1"/>
          <p:nvPr/>
        </p:nvSpPr>
        <p:spPr>
          <a:xfrm>
            <a:off x="5141595" y="5905500"/>
            <a:ext cx="1242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87D74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原型E3</a:t>
            </a:r>
          </a:p>
        </p:txBody>
      </p:sp>
      <p:sp>
        <p:nvSpPr>
          <p:cNvPr id="102" name="SMA20"/>
          <p:cNvSpPr txBox="1"/>
          <p:nvPr/>
        </p:nvSpPr>
        <p:spPr>
          <a:xfrm>
            <a:off x="6427470" y="5905500"/>
            <a:ext cx="1242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08621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SMA20</a:t>
            </a:r>
          </a:p>
        </p:txBody>
      </p:sp>
      <p:sp>
        <p:nvSpPr>
          <p:cNvPr id="103" name="20日安値"/>
          <p:cNvSpPr txBox="1"/>
          <p:nvPr/>
        </p:nvSpPr>
        <p:spPr>
          <a:xfrm>
            <a:off x="7713344" y="5905500"/>
            <a:ext cx="1242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6857B5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20日安値</a:t>
            </a:r>
          </a:p>
        </p:txBody>
      </p:sp>
      <p:sp>
        <p:nvSpPr>
          <p:cNvPr id="104" name="3ATR"/>
          <p:cNvSpPr txBox="1"/>
          <p:nvPr/>
        </p:nvSpPr>
        <p:spPr>
          <a:xfrm>
            <a:off x="8999219" y="5905500"/>
            <a:ext cx="1242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C04B57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3ATR</a:t>
            </a:r>
          </a:p>
        </p:txBody>
      </p:sp>
      <p:sp>
        <p:nvSpPr>
          <p:cNvPr id="105" name="買い持ち"/>
          <p:cNvSpPr txBox="1"/>
          <p:nvPr/>
        </p:nvSpPr>
        <p:spPr>
          <a:xfrm>
            <a:off x="10285094" y="5905500"/>
            <a:ext cx="1242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85919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買い持ち</a:t>
            </a:r>
          </a:p>
        </p:txBody>
      </p:sp>
      <p:sp>
        <p:nvSpPr>
          <p:cNvPr id="106" name="SMA20は保留。全決済2案は追加しない"/>
          <p:cNvSpPr txBox="1"/>
          <p:nvPr/>
        </p:nvSpPr>
        <p:spPr>
          <a:xfrm>
            <a:off x="655319" y="5553075"/>
            <a:ext cx="4080511" cy="66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SMA20は保留。全決済2案は追加しない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1. E3の追加検証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1. E3の追加検証</a:t>
            </a:r>
          </a:p>
        </p:txBody>
      </p:sp>
      <p:sp>
        <p:nvSpPr>
          <p:cNvPr id="111" name="FRの7日案は、別期間で改善を再現せず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FRの7日案は、別期間で改善を再現せず</a:t>
            </a:r>
          </a:p>
        </p:txBody>
      </p:sp>
      <p:sp>
        <p:nvSpPr>
          <p:cNvPr id="112" name="原型E3と「過熱後7日＋SMA20」を比較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原型E3と「過熱後7日＋SMA20」を比較</a:t>
            </a:r>
          </a:p>
        </p:txBody>
      </p:sp>
      <p:sp>
        <p:nvSpPr>
          <p:cNvPr id="113" name="05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05</a:t>
            </a:r>
          </a:p>
        </p:txBody>
      </p:sp>
      <p:graphicFrame>
        <p:nvGraphicFramePr>
          <p:cNvPr id="114" name="表1"/>
          <p:cNvGraphicFramePr/>
          <p:nvPr/>
        </p:nvGraphicFramePr>
        <p:xfrm>
          <a:off x="609600" y="2628900"/>
          <a:ext cx="4105275" cy="25146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28775"/>
                <a:gridCol w="1238250"/>
                <a:gridCol w="1238250"/>
              </a:tblGrid>
              <a:tr h="838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期間・FR参照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原型E3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7日案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2025/2〜
2026/8・HL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−1.15%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+1.69%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2021〜24
Binance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+445.52%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+371.60%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pic>
        <p:nvPicPr>
          <p:cNvPr id="115" name="image2.png" descr="image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19675" y="2190750"/>
            <a:ext cx="6858000" cy="3676650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原型E3"/>
          <p:cNvSpPr txBox="1"/>
          <p:nvPr/>
        </p:nvSpPr>
        <p:spPr>
          <a:xfrm>
            <a:off x="6475095" y="5905500"/>
            <a:ext cx="1623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87D74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原型E3</a:t>
            </a:r>
          </a:p>
        </p:txBody>
      </p:sp>
      <p:sp>
        <p:nvSpPr>
          <p:cNvPr id="117" name="過熱後7日＋SMA20"/>
          <p:cNvSpPr txBox="1"/>
          <p:nvPr/>
        </p:nvSpPr>
        <p:spPr>
          <a:xfrm>
            <a:off x="8475344" y="5905500"/>
            <a:ext cx="30518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C04B57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過熱後7日＋SMA20</a:t>
            </a:r>
          </a:p>
        </p:txBody>
      </p:sp>
      <p:sp>
        <p:nvSpPr>
          <p:cNvPr id="118" name="直近の改善は3局面。…"/>
          <p:cNvSpPr txBox="1"/>
          <p:nvPr/>
        </p:nvSpPr>
        <p:spPr>
          <a:xfrm>
            <a:off x="655319" y="5362575"/>
            <a:ext cx="4013836" cy="66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pPr>
            <a:r>
              <a:t>直近の改善は3局面。</a:t>
            </a:r>
          </a:p>
          <a:p>
            <a:pPr>
              <a:defRPr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pPr>
            <a:r>
              <a:t>追加出口の採用は見送り</a:t>
            </a:r>
          </a:p>
        </p:txBody>
      </p:sp>
      <p:sp>
        <p:nvSpPr>
          <p:cNvPr id="119" name="別期間のDDも悪化…"/>
          <p:cNvSpPr txBox="1"/>
          <p:nvPr/>
        </p:nvSpPr>
        <p:spPr>
          <a:xfrm>
            <a:off x="655319" y="6067425"/>
            <a:ext cx="4013836" cy="580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5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別期間のDDも悪化</a:t>
            </a:r>
          </a:p>
          <a:p>
            <a:pPr>
              <a:defRPr sz="15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−48.30%から−49.91%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1. E3の追加検証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1. E3の追加検証</a:t>
            </a:r>
          </a:p>
        </p:txBody>
      </p:sp>
      <p:sp>
        <p:nvSpPr>
          <p:cNvPr id="124" name="E3は、どの銘柄・取引所・倍率で使うべきか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E3は、どの銘柄・取引所・倍率で使うべきか</a:t>
            </a:r>
          </a:p>
        </p:txBody>
      </p:sp>
      <p:sp>
        <p:nvSpPr>
          <p:cNvPr id="125" name="2025/1/1〜2026/8/31。SMA50・100・200固定、片道費用0.11%の試算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2025/1/1〜2026/8/31。SMA50・100・200固定、片道費用0.11%の試算</a:t>
            </a:r>
          </a:p>
        </p:txBody>
      </p:sp>
      <p:sp>
        <p:nvSpPr>
          <p:cNvPr id="126" name="06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06</a:t>
            </a:r>
          </a:p>
        </p:txBody>
      </p:sp>
      <p:graphicFrame>
        <p:nvGraphicFramePr>
          <p:cNvPr id="127" name="表1"/>
          <p:cNvGraphicFramePr/>
          <p:nvPr/>
        </p:nvGraphicFramePr>
        <p:xfrm>
          <a:off x="609600" y="2514600"/>
          <a:ext cx="10972800" cy="295275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285875"/>
                <a:gridCol w="5619750"/>
                <a:gridCol w="2038350"/>
                <a:gridCol w="2028825"/>
              </a:tblGrid>
              <a:tr h="42182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比較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条件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期間損益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最大DD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銘柄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bitbank BTC/JPY 現物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−1.88%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−24.85%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銘柄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bitbank ETH/JPY 現物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+62.76%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−32.83%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取引所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bitbank BTC/JPY 現物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−1.88%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−24.85%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取引所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GMOコイン BTC/JPY 現物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−0.67%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−26.58%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倍率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bitbank BTC/JPY 現物上限1倍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−1.88%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−24.77%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倍率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bitbank BTC/JPY 最大1.25倍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−3.80%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−28.82%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8" name="ETHは利益大・DDも深い。取引所の最良は未確定。1.25倍は直近で悪化"/>
          <p:cNvSpPr txBox="1"/>
          <p:nvPr/>
        </p:nvSpPr>
        <p:spPr>
          <a:xfrm>
            <a:off x="655319" y="5657850"/>
            <a:ext cx="108813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ETHは利益大・DDも深い。取引所の最良は未確定。1.25倍は直近で悪化</a:t>
            </a:r>
          </a:p>
        </p:txBody>
      </p:sp>
      <p:sp>
        <p:nvSpPr>
          <p:cNvPr id="129" name="判断：BTC現物・1倍を第一候補に。ETHは比較候補として残す"/>
          <p:cNvSpPr txBox="1"/>
          <p:nvPr/>
        </p:nvSpPr>
        <p:spPr>
          <a:xfrm>
            <a:off x="655319" y="6057900"/>
            <a:ext cx="10290811" cy="339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判断：BTC現物・1倍を第一候補に。ETHは比較候補として残す</a:t>
            </a:r>
          </a:p>
        </p:txBody>
      </p:sp>
      <p:sp>
        <p:nvSpPr>
          <p:cNvPr id="130" name="※倍率比較は評価時の費用計上が異なる。実際の板・約定条件は未比較"/>
          <p:cNvSpPr txBox="1"/>
          <p:nvPr/>
        </p:nvSpPr>
        <p:spPr>
          <a:xfrm>
            <a:off x="655319" y="6496050"/>
            <a:ext cx="10290811" cy="243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※倍率比較は評価時の費用計上が異なる。実際の板・約定条件は未比較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1. E3の追加検証 実装・運用の方針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1. E3の追加検証 実装・運用の方針</a:t>
            </a:r>
          </a:p>
        </p:txBody>
      </p:sp>
      <p:sp>
        <p:nvSpPr>
          <p:cNvPr id="135" name="第一候補は、bitbankのBTC/JPY現物E3原型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第一候補は、bitbankのBTC/JPY現物E3原型</a:t>
            </a:r>
          </a:p>
        </p:txBody>
      </p:sp>
      <p:sp>
        <p:nvSpPr>
          <p:cNvPr id="136" name="上昇への参加、下落時の縮小、ルールの単純さから、この条件で進める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上昇への参加、下落時の縮小、ルールの単純さから、この条件で進める</a:t>
            </a:r>
          </a:p>
        </p:txBody>
      </p:sp>
      <p:sp>
        <p:nvSpPr>
          <p:cNvPr id="137" name="07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07</a:t>
            </a:r>
          </a:p>
        </p:txBody>
      </p:sp>
      <p:graphicFrame>
        <p:nvGraphicFramePr>
          <p:cNvPr id="138" name="表1"/>
          <p:cNvGraphicFramePr/>
          <p:nvPr/>
        </p:nvGraphicFramePr>
        <p:xfrm>
          <a:off x="609600" y="2409825"/>
          <a:ext cx="10972800" cy="32385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1250"/>
                <a:gridCol w="8591550"/>
              </a:tblGrid>
              <a:tr h="539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項目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採用するルール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市場・リスク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bitbankの現物板取引、BTC/JPY、レバレッジなし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判定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UTC日足（日本時間9時確定）とSMA50・100・200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目標保有率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終値が上回るSMAが0本：0%、1本：1/3、2本：2/3、3本：100%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注文と数量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本数変更時だけ、Bot専用資産の時価と費用を考慮して調整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出口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本数減少で段階的に売却。固定利確・ATR・FRの追加決済なし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同じ本数の間はBTC数量を維持。まずペーパー運用を継続"/>
          <p:cNvSpPr txBox="1"/>
          <p:nvPr/>
        </p:nvSpPr>
        <p:spPr>
          <a:xfrm>
            <a:off x="655319" y="5848350"/>
            <a:ext cx="10881361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同じ本数の間はBTC数量を維持。まずペーパー運用を継続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2. MACD ① 時間足を短くした検証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2. MACD ① 時間足を短くした検証</a:t>
            </a:r>
          </a:p>
        </p:txBody>
      </p:sp>
      <p:sp>
        <p:nvSpPr>
          <p:cNvPr id="144" name="日足・12時間足・4時間足を比較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日足・12時間足・4時間足を比較</a:t>
            </a:r>
          </a:p>
        </p:txBody>
      </p:sp>
      <p:sp>
        <p:nvSpPr>
          <p:cNvPr id="145" name="BTC/JPY・2020/1/1〜2024/12/31。約定・資産評価は当初15分足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BTC/JPY・2020/1/1〜2024/12/31。約定・資産評価は当初15分足</a:t>
            </a:r>
          </a:p>
        </p:txBody>
      </p:sp>
      <p:sp>
        <p:nvSpPr>
          <p:cNvPr id="146" name="08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08</a:t>
            </a:r>
          </a:p>
        </p:txBody>
      </p:sp>
      <p:graphicFrame>
        <p:nvGraphicFramePr>
          <p:cNvPr id="147" name="表1"/>
          <p:cNvGraphicFramePr/>
          <p:nvPr/>
        </p:nvGraphicFramePr>
        <p:xfrm>
          <a:off x="609600" y="2638425"/>
          <a:ext cx="4105275" cy="253365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19275"/>
                <a:gridCol w="1143000"/>
                <a:gridCol w="1143000"/>
              </a:tblGrid>
              <a:tr h="63341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設定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累積損益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最大DD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63341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日足
5/35/5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+606.3%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−59.5%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341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12時間足
10/70/10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+962.7%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−41.3%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63341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4時間足
30/210/30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+702.0%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−49.6%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8" name="損益曲線：評価資産（百万円・対数）"/>
          <p:cNvSpPr txBox="1"/>
          <p:nvPr/>
        </p:nvSpPr>
        <p:spPr>
          <a:xfrm>
            <a:off x="5065395" y="2447925"/>
            <a:ext cx="6576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損益曲線：評価資産（百万円・対数）</a:t>
            </a:r>
          </a:p>
        </p:txBody>
      </p:sp>
      <p:pic>
        <p:nvPicPr>
          <p:cNvPr id="149" name="image3.png" descr="image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24425" y="2921752"/>
            <a:ext cx="6953250" cy="1890797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日足5/35/5"/>
          <p:cNvSpPr txBox="1"/>
          <p:nvPr/>
        </p:nvSpPr>
        <p:spPr>
          <a:xfrm>
            <a:off x="5284470" y="5038725"/>
            <a:ext cx="26708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F766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日足5/35/5</a:t>
            </a:r>
          </a:p>
        </p:txBody>
      </p:sp>
      <p:sp>
        <p:nvSpPr>
          <p:cNvPr id="151" name="12時間足10/70/10"/>
          <p:cNvSpPr txBox="1"/>
          <p:nvPr/>
        </p:nvSpPr>
        <p:spPr>
          <a:xfrm>
            <a:off x="8332469" y="5038725"/>
            <a:ext cx="33375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7C3AED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12時間足10/70/10</a:t>
            </a:r>
          </a:p>
        </p:txBody>
      </p:sp>
      <p:sp>
        <p:nvSpPr>
          <p:cNvPr id="152" name="4時間足30/210/30"/>
          <p:cNvSpPr txBox="1"/>
          <p:nvPr/>
        </p:nvSpPr>
        <p:spPr>
          <a:xfrm>
            <a:off x="5284470" y="5324475"/>
            <a:ext cx="32423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2563EB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4時間足30/210/30</a:t>
            </a:r>
          </a:p>
        </p:txBody>
      </p:sp>
      <p:sp>
        <p:nvSpPr>
          <p:cNvPr id="153" name="買い持ち（参考）"/>
          <p:cNvSpPr txBox="1"/>
          <p:nvPr/>
        </p:nvSpPr>
        <p:spPr>
          <a:xfrm>
            <a:off x="8999219" y="5324475"/>
            <a:ext cx="26708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64748B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買い持ち（参考）</a:t>
            </a:r>
          </a:p>
        </p:txBody>
      </p:sp>
      <p:sp>
        <p:nvSpPr>
          <p:cNvPr id="154" name="12時間足を比較候補に。ただし、2022年は全案が赤字"/>
          <p:cNvSpPr txBox="1"/>
          <p:nvPr/>
        </p:nvSpPr>
        <p:spPr>
          <a:xfrm>
            <a:off x="655319" y="5781675"/>
            <a:ext cx="10881361" cy="364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12時間足を比較候補に。ただし、2022年は全案が赤字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2. MACD ② 精度を上げる追加検証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2. MACD ② 精度を上げる追加検証</a:t>
            </a:r>
          </a:p>
        </p:txBody>
      </p:sp>
      <p:sp>
        <p:nvSpPr>
          <p:cNvPr id="159" name="SMA条件と資金配分を追加して比較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SMA条件と資金配分を追加して比較</a:t>
            </a:r>
          </a:p>
        </p:txBody>
      </p:sp>
      <p:sp>
        <p:nvSpPr>
          <p:cNvPr id="160" name="2022年の損失分析、SMA200での新規買い制限を経て、50/50配分へ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2022年の損失分析、SMA200での新規買い制限を経て、50/50配分へ</a:t>
            </a:r>
          </a:p>
        </p:txBody>
      </p:sp>
      <p:sp>
        <p:nvSpPr>
          <p:cNvPr id="161" name="09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162" name="12時間足MACDがオンなら50%、日足SMAがオンなら50%を加算…"/>
          <p:cNvSpPr txBox="1"/>
          <p:nvPr/>
        </p:nvSpPr>
        <p:spPr>
          <a:xfrm>
            <a:off x="655319" y="2409825"/>
            <a:ext cx="10881361" cy="66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142C3E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12時間足MACDがオンなら50%、日足SMAがオンなら50%を加算</a:t>
            </a:r>
          </a:p>
          <a:p>
            <a:pPr>
              <a:defRPr>
                <a:solidFill>
                  <a:srgbClr val="142C3E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両方オン100%、片方オン50%、両方オフ0%</a:t>
            </a:r>
          </a:p>
        </p:txBody>
      </p:sp>
      <p:graphicFrame>
        <p:nvGraphicFramePr>
          <p:cNvPr id="163" name="表1"/>
          <p:cNvGraphicFramePr/>
          <p:nvPr/>
        </p:nvGraphicFramePr>
        <p:xfrm>
          <a:off x="609600" y="3295650"/>
          <a:ext cx="4105275" cy="221932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19275"/>
                <a:gridCol w="1143000"/>
                <a:gridCol w="1143000"/>
              </a:tblGrid>
              <a:tr h="55483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追加条件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累積損益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DD・15分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55483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従来50/50
（SMA200）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+744.5%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−50.6%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483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SMA100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+963.9%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−38.9%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55483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SMA200±3%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+821.2%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−44.8%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4" name="損益曲線：評価資産（百万円・対数）"/>
          <p:cNvSpPr txBox="1"/>
          <p:nvPr/>
        </p:nvSpPr>
        <p:spPr>
          <a:xfrm>
            <a:off x="5065395" y="3152775"/>
            <a:ext cx="6576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損益曲線：評価資産（百万円・対数）</a:t>
            </a:r>
          </a:p>
        </p:txBody>
      </p:sp>
      <p:pic>
        <p:nvPicPr>
          <p:cNvPr id="165" name="image4.png" descr="image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24425" y="3521826"/>
            <a:ext cx="6953250" cy="1890797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従来50/50"/>
          <p:cNvSpPr txBox="1"/>
          <p:nvPr/>
        </p:nvSpPr>
        <p:spPr>
          <a:xfrm>
            <a:off x="5284470" y="5572125"/>
            <a:ext cx="21945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2563EB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従来50/50</a:t>
            </a:r>
          </a:p>
        </p:txBody>
      </p:sp>
      <p:sp>
        <p:nvSpPr>
          <p:cNvPr id="167" name="SMA100"/>
          <p:cNvSpPr txBox="1"/>
          <p:nvPr/>
        </p:nvSpPr>
        <p:spPr>
          <a:xfrm>
            <a:off x="7665719" y="5572125"/>
            <a:ext cx="21945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F766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SMA100</a:t>
            </a:r>
          </a:p>
        </p:txBody>
      </p:sp>
      <p:sp>
        <p:nvSpPr>
          <p:cNvPr id="168" name="SMA200±3%"/>
          <p:cNvSpPr txBox="1"/>
          <p:nvPr/>
        </p:nvSpPr>
        <p:spPr>
          <a:xfrm>
            <a:off x="5284470" y="5857875"/>
            <a:ext cx="26708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C2410C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SMA200±3%</a:t>
            </a:r>
          </a:p>
        </p:txBody>
      </p:sp>
      <p:sp>
        <p:nvSpPr>
          <p:cNvPr id="169" name="売り2本確認"/>
          <p:cNvSpPr txBox="1"/>
          <p:nvPr/>
        </p:nvSpPr>
        <p:spPr>
          <a:xfrm>
            <a:off x="8618219" y="5857875"/>
            <a:ext cx="30518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9333EA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売り2本確認</a:t>
            </a:r>
          </a:p>
        </p:txBody>
      </p:sp>
      <p:sp>
        <p:nvSpPr>
          <p:cNvPr id="170" name="SMA100・±3%を候補に。…"/>
          <p:cNvSpPr txBox="1"/>
          <p:nvPr/>
        </p:nvSpPr>
        <p:spPr>
          <a:xfrm>
            <a:off x="655319" y="5715000"/>
            <a:ext cx="4013836" cy="66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pPr>
            <a:r>
              <a:t>SMA100・±3%を候補に。</a:t>
            </a:r>
          </a:p>
          <a:p>
            <a:pPr>
              <a:defRPr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pPr>
            <a:r>
              <a:t>改善の再現性は未確認</a:t>
            </a:r>
          </a:p>
        </p:txBody>
      </p:sp>
      <p:sp>
        <p:nvSpPr>
          <p:cNvPr id="171" name="共通期間：2020/8/8〜2024/12/31。初期100万円。SMA100の2022年損失は悪化"/>
          <p:cNvSpPr txBox="1"/>
          <p:nvPr/>
        </p:nvSpPr>
        <p:spPr>
          <a:xfrm>
            <a:off x="655319" y="6372225"/>
            <a:ext cx="1029081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共通期間：2020/8/8〜2024/12/31。初期100万円。SMA100の2022年損失は悪化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2. MACD ③ Botter会後の15分足・30分足比較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2. MACD ③ Botter会後の15分足・30分足比較</a:t>
            </a:r>
          </a:p>
        </p:txBody>
      </p:sp>
      <p:sp>
        <p:nvSpPr>
          <p:cNvPr id="176" name="15分足から30分足への変更を検証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15分足から30分足への変更を検証</a:t>
            </a:r>
          </a:p>
        </p:txBody>
      </p:sp>
      <p:sp>
        <p:nvSpPr>
          <p:cNvPr id="177" name="10/8 Botter会を受け、約定価格と資産評価を30分足で再計算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10/8 Botter会を受け、約定価格と資産評価を30分足で再計算</a:t>
            </a:r>
          </a:p>
        </p:txBody>
      </p:sp>
      <p:sp>
        <p:nvSpPr>
          <p:cNvPr id="178" name="10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9" name="111組の比較で、売買記録・累積損益・日次曲線が一致"/>
          <p:cNvSpPr txBox="1"/>
          <p:nvPr/>
        </p:nvSpPr>
        <p:spPr>
          <a:xfrm>
            <a:off x="655319" y="2438400"/>
            <a:ext cx="10881361" cy="364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111組の比較で、売買記録・累積損益・日次曲線が一致</a:t>
            </a:r>
          </a:p>
        </p:txBody>
      </p:sp>
      <p:graphicFrame>
        <p:nvGraphicFramePr>
          <p:cNvPr id="180" name="表1"/>
          <p:cNvGraphicFramePr/>
          <p:nvPr/>
        </p:nvGraphicFramePr>
        <p:xfrm>
          <a:off x="609600" y="3028950"/>
          <a:ext cx="4105275" cy="225742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28775"/>
                <a:gridCol w="1238250"/>
                <a:gridCol w="1238250"/>
              </a:tblGrid>
              <a:tr h="5643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SMA±3%案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15分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30分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累積損益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+821.15%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+821.15%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注文数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200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200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最大DD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−44.78%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−44.74%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1" name="損益曲線：評価資産（百万円・対数）"/>
          <p:cNvSpPr txBox="1"/>
          <p:nvPr/>
        </p:nvSpPr>
        <p:spPr>
          <a:xfrm>
            <a:off x="5065395" y="2971800"/>
            <a:ext cx="6576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損益曲線：評価資産（百万円・対数）</a:t>
            </a:r>
          </a:p>
        </p:txBody>
      </p:sp>
      <p:pic>
        <p:nvPicPr>
          <p:cNvPr id="182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24425" y="3359901"/>
            <a:ext cx="6953250" cy="1890797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従来50/50"/>
          <p:cNvSpPr txBox="1"/>
          <p:nvPr/>
        </p:nvSpPr>
        <p:spPr>
          <a:xfrm>
            <a:off x="5284470" y="5400675"/>
            <a:ext cx="26708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2563EB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従来50/50</a:t>
            </a:r>
          </a:p>
        </p:txBody>
      </p:sp>
      <p:sp>
        <p:nvSpPr>
          <p:cNvPr id="184" name="SMA100"/>
          <p:cNvSpPr txBox="1"/>
          <p:nvPr/>
        </p:nvSpPr>
        <p:spPr>
          <a:xfrm>
            <a:off x="8618219" y="5400675"/>
            <a:ext cx="26708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F766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SMA100</a:t>
            </a:r>
          </a:p>
        </p:txBody>
      </p:sp>
      <p:sp>
        <p:nvSpPr>
          <p:cNvPr id="185" name="SMA200±3%"/>
          <p:cNvSpPr txBox="1"/>
          <p:nvPr/>
        </p:nvSpPr>
        <p:spPr>
          <a:xfrm>
            <a:off x="5284470" y="5686425"/>
            <a:ext cx="30518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C2410C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SMA200±3%</a:t>
            </a:r>
          </a:p>
        </p:txBody>
      </p:sp>
      <p:sp>
        <p:nvSpPr>
          <p:cNvPr id="186" name="各候補の15分・30分の曲線は重なる"/>
          <p:cNvSpPr txBox="1"/>
          <p:nvPr/>
        </p:nvSpPr>
        <p:spPr>
          <a:xfrm>
            <a:off x="5065395" y="6038850"/>
            <a:ext cx="6671310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各候補の15分・30分の曲線は重なる</a:t>
            </a:r>
          </a:p>
        </p:txBody>
      </p:sp>
      <p:sp>
        <p:nvSpPr>
          <p:cNvPr id="187" name="シグナルは12時間足MACD＋…"/>
          <p:cNvSpPr txBox="1"/>
          <p:nvPr/>
        </p:nvSpPr>
        <p:spPr>
          <a:xfrm>
            <a:off x="655319" y="5553075"/>
            <a:ext cx="4013836" cy="974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シグナルは12時間足MACD＋</a:t>
            </a:r>
          </a:p>
          <a:p>
            <a: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日足SMAを維持。DD差は</a:t>
            </a:r>
          </a:p>
          <a:p>
            <a: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評価頻度による小さな差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2. MACD 実践・運用の方針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2. MACD 実践・運用の方針</a:t>
            </a:r>
          </a:p>
        </p:txBody>
      </p:sp>
      <p:sp>
        <p:nvSpPr>
          <p:cNvPr id="192" name="第一候補は、12時間足MACD＋日足SMA100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第一候補は、12時間足MACD＋日足SMA100</a:t>
            </a:r>
          </a:p>
        </p:txBody>
      </p:sp>
      <p:sp>
        <p:nvSpPr>
          <p:cNvPr id="193" name="bitbankのBTC/JPY現物・板取引。買いと保有BTCの売却のみ、レバレッジなし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bitbankのBTC/JPY現物・板取引。買いと保有BTCの売却のみ、レバレッジなし</a:t>
            </a:r>
          </a:p>
        </p:txBody>
      </p:sp>
      <p:sp>
        <p:nvSpPr>
          <p:cNvPr id="194" name="11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11</a:t>
            </a:r>
          </a:p>
        </p:txBody>
      </p:sp>
      <p:graphicFrame>
        <p:nvGraphicFramePr>
          <p:cNvPr id="195" name="表1"/>
          <p:cNvGraphicFramePr/>
          <p:nvPr/>
        </p:nvGraphicFramePr>
        <p:xfrm>
          <a:off x="609600" y="2381250"/>
          <a:ext cx="10972800" cy="341947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1250"/>
                <a:gridCol w="8591550"/>
              </a:tblGrid>
              <a:tr h="488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項目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採用するルール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488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MACDの条件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12時間足MACD 10/70/10。MACDがシグナルより上なら成立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8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日足の条件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完成した日足の終値がSMA100より上なら成立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488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BTC目標保有率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両方成立：100%、片方成立：50%、両方不成立：0%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8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判定（日本時間）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9時：MACDと日足を更新。21時：MACDだけ更新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488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注文と数量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目標変更時だけ差額を調整。同じ目標の間はBTC数量を維持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8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決済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条件に応じて縮小・全売却。固定利確・損切り・ATRは追加しない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196" name="固定仕様でペーパー検証。従来のSMA200案を比較対象に残す"/>
          <p:cNvSpPr txBox="1"/>
          <p:nvPr/>
        </p:nvSpPr>
        <p:spPr>
          <a:xfrm>
            <a:off x="655319" y="6029325"/>
            <a:ext cx="10881361" cy="339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固定仕様でペーパー検証。従来のSMA200案を比較対象に残す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3. 回転Bot ① 短期で良かった初期案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3. 回転Bot ① 短期で良かった初期案</a:t>
            </a:r>
          </a:p>
        </p:txBody>
      </p:sp>
      <p:sp>
        <p:nvSpPr>
          <p:cNvPr id="201" name="0.214／0.786の指値でレンジを回転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0.214／0.786の指値でレンジを回転</a:t>
            </a:r>
          </a:p>
        </p:txBody>
      </p:sp>
      <p:sp>
        <p:nvSpPr>
          <p:cNvPr id="202" name="Hyperliquid BTC永久先物・2026/8/10〜10/1。約7週間、15分足で約定判定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Hyperliquid BTC永久先物・2026/8/10〜10/1。約7週間、15分足で約定判定</a:t>
            </a:r>
          </a:p>
        </p:txBody>
      </p:sp>
      <p:sp>
        <p:nvSpPr>
          <p:cNvPr id="203" name="12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04" name="完成4時間足20本の高安を…"/>
          <p:cNvSpPr txBox="1"/>
          <p:nvPr/>
        </p:nvSpPr>
        <p:spPr>
          <a:xfrm>
            <a:off x="655319" y="2457450"/>
            <a:ext cx="4013836" cy="1005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142C3E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完成4時間足20本の高安を</a:t>
            </a:r>
          </a:p>
          <a:p>
            <a:pPr>
              <a:defRPr>
                <a:solidFill>
                  <a:srgbClr val="142C3E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下限0・上限1とする</a:t>
            </a:r>
          </a:p>
          <a:p>
            <a:pPr>
              <a:defRPr>
                <a:solidFill>
                  <a:srgbClr val="142C3E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ADX(14)＜20で注文を許可</a:t>
            </a:r>
          </a:p>
        </p:txBody>
      </p:sp>
      <p:sp>
        <p:nvSpPr>
          <p:cNvPr id="205" name="買い：0.214で入り、0.786で利確…"/>
          <p:cNvSpPr txBox="1"/>
          <p:nvPr/>
        </p:nvSpPr>
        <p:spPr>
          <a:xfrm>
            <a:off x="655319" y="3457575"/>
            <a:ext cx="4013836" cy="66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142C3E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買い：0.214で入り、0.786で利確</a:t>
            </a:r>
          </a:p>
          <a:p>
            <a:pPr>
              <a:defRPr>
                <a:solidFill>
                  <a:srgbClr val="142C3E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売り：0.786で入り、0.214で利確</a:t>
            </a:r>
          </a:p>
        </p:txBody>
      </p:sp>
      <p:sp>
        <p:nvSpPr>
          <p:cNvPr id="206" name="損切り：Gは境界、Hは0.5ATR外…"/>
          <p:cNvSpPr txBox="1"/>
          <p:nvPr/>
        </p:nvSpPr>
        <p:spPr>
          <a:xfrm>
            <a:off x="655319" y="4295775"/>
            <a:ext cx="4013836" cy="66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142C3E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損切り：Gは境界、Hは0.5ATR外</a:t>
            </a:r>
          </a:p>
          <a:p>
            <a:pPr>
              <a:defRPr>
                <a:solidFill>
                  <a:srgbClr val="142C3E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同時1建玉、予定損失0.5%以内</a:t>
            </a:r>
          </a:p>
        </p:txBody>
      </p:sp>
      <p:sp>
        <p:nvSpPr>
          <p:cNvPr id="207" name="4時間ごとに未約定注文を更新…"/>
          <p:cNvSpPr txBox="1"/>
          <p:nvPr/>
        </p:nvSpPr>
        <p:spPr>
          <a:xfrm>
            <a:off x="655319" y="5133975"/>
            <a:ext cx="4013836" cy="66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4時間ごとに未約定注文を更新</a:t>
            </a:r>
          </a:p>
          <a:p>
            <a:pPr>
              <a:defRPr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約定後の上下限・出口は固定</a:t>
            </a:r>
          </a:p>
        </p:txBody>
      </p:sp>
      <p:sp>
        <p:nvSpPr>
          <p:cNvPr id="208" name="Gの買い例：9/13〜14、BTC価格（USD）"/>
          <p:cNvSpPr txBox="1"/>
          <p:nvPr/>
        </p:nvSpPr>
        <p:spPr>
          <a:xfrm>
            <a:off x="5065395" y="2533650"/>
            <a:ext cx="667131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Gの買い例：9/13〜14、BTC価格（USD）</a:t>
            </a:r>
          </a:p>
        </p:txBody>
      </p:sp>
      <p:pic>
        <p:nvPicPr>
          <p:cNvPr id="209" name="image6.png" descr="image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24425" y="3166832"/>
            <a:ext cx="6953250" cy="1962612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紫＝レンジ上下限、緑＝利確、赤＝損切り"/>
          <p:cNvSpPr txBox="1"/>
          <p:nvPr/>
        </p:nvSpPr>
        <p:spPr>
          <a:xfrm>
            <a:off x="5065395" y="5381625"/>
            <a:ext cx="667131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紫＝レンジ上下限、緑＝利確、赤＝損切り</a:t>
            </a:r>
          </a:p>
        </p:txBody>
      </p:sp>
      <p:sp>
        <p:nvSpPr>
          <p:cNvPr id="211" name="短期結果：G ＋3.96%、H ＋3.11%。いずれも11取引"/>
          <p:cNvSpPr txBox="1"/>
          <p:nvPr/>
        </p:nvSpPr>
        <p:spPr>
          <a:xfrm>
            <a:off x="655319" y="5981700"/>
            <a:ext cx="10881361" cy="364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短期結果：G ＋3.96%、H ＋3.11%。いずれも11取引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3. 回転Bot ② 長期検証と改善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3. 回転Bot ② 長期検証と改善</a:t>
            </a:r>
          </a:p>
        </p:txBody>
      </p:sp>
      <p:sp>
        <p:nvSpPr>
          <p:cNvPr id="216" name="長期で悪化したため、急変後レンジへ限定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長期で悪化したため、急変後レンジへ限定</a:t>
            </a:r>
          </a:p>
        </p:txBody>
      </p:sp>
      <p:sp>
        <p:nvSpPr>
          <p:cNvPr id="217" name="Binance BTCUSDT・2020〜2024年・15分足で再生。同じ期間内で比較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Binance BTCUSDT・2020〜2024年・15分足で再生。同じ期間内で比較</a:t>
            </a:r>
          </a:p>
        </p:txBody>
      </p:sp>
      <p:sp>
        <p:nvSpPr>
          <p:cNvPr id="218" name="13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19" name="3本で3ATR以上の急変後、6本の値幅が急変幅の半分以下なら固定レンジ…"/>
          <p:cNvSpPr txBox="1"/>
          <p:nvPr/>
        </p:nvSpPr>
        <p:spPr>
          <a:xfrm>
            <a:off x="655319" y="2381250"/>
            <a:ext cx="10881361" cy="66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142C3E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3本で3ATR以上の急変後、6本の値幅が急変幅の半分以下なら固定レンジ</a:t>
            </a:r>
          </a:p>
          <a:p>
            <a:pPr>
              <a:defRPr>
                <a:solidFill>
                  <a:srgbClr val="142C3E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pPr>
            <a:r>
              <a:t>入口は0.214／0.786を維持。利確を反対側と中央0.5で比較</a:t>
            </a:r>
          </a:p>
        </p:txBody>
      </p:sp>
      <p:graphicFrame>
        <p:nvGraphicFramePr>
          <p:cNvPr id="220" name="表1"/>
          <p:cNvGraphicFramePr/>
          <p:nvPr/>
        </p:nvGraphicFramePr>
        <p:xfrm>
          <a:off x="609600" y="3295650"/>
          <a:ext cx="4105275" cy="2400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09775"/>
                <a:gridCol w="1238250"/>
                <a:gridCol w="857250"/>
              </a:tblGrid>
              <a:tr h="4800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案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純損益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取引数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通常レンジG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−21.51%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323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通常レンジH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−20.88%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271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急変後・0.786 G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+1.05%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19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急変後・中央 H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+1.38%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34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221" name="損益曲線：初期資産100%、含み損益込み"/>
          <p:cNvSpPr txBox="1"/>
          <p:nvPr/>
        </p:nvSpPr>
        <p:spPr>
          <a:xfrm>
            <a:off x="5065395" y="3171825"/>
            <a:ext cx="667131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損益曲線：初期資産100%、含み損益込み</a:t>
            </a:r>
          </a:p>
        </p:txBody>
      </p:sp>
      <p:pic>
        <p:nvPicPr>
          <p:cNvPr id="222" name="image7.png" descr="image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24425" y="3563232"/>
            <a:ext cx="6953250" cy="2188987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通常G"/>
          <p:cNvSpPr txBox="1"/>
          <p:nvPr/>
        </p:nvSpPr>
        <p:spPr>
          <a:xfrm>
            <a:off x="5284470" y="5772150"/>
            <a:ext cx="1623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64748B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通常G</a:t>
            </a:r>
          </a:p>
        </p:txBody>
      </p:sp>
      <p:sp>
        <p:nvSpPr>
          <p:cNvPr id="224" name="通常H"/>
          <p:cNvSpPr txBox="1"/>
          <p:nvPr/>
        </p:nvSpPr>
        <p:spPr>
          <a:xfrm>
            <a:off x="8141969" y="5772150"/>
            <a:ext cx="1623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8053B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通常H</a:t>
            </a:r>
          </a:p>
        </p:txBody>
      </p:sp>
      <p:sp>
        <p:nvSpPr>
          <p:cNvPr id="225" name="急変後0.786 G"/>
          <p:cNvSpPr txBox="1"/>
          <p:nvPr/>
        </p:nvSpPr>
        <p:spPr>
          <a:xfrm>
            <a:off x="5284470" y="6057900"/>
            <a:ext cx="26708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8977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急変後0.786 G</a:t>
            </a:r>
          </a:p>
        </p:txBody>
      </p:sp>
      <p:sp>
        <p:nvSpPr>
          <p:cNvPr id="226" name="急変後中央 H"/>
          <p:cNvSpPr txBox="1"/>
          <p:nvPr/>
        </p:nvSpPr>
        <p:spPr>
          <a:xfrm>
            <a:off x="8618219" y="6057900"/>
            <a:ext cx="276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C74444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急変後中央 H</a:t>
            </a:r>
          </a:p>
        </p:txBody>
      </p:sp>
      <p:sp>
        <p:nvSpPr>
          <p:cNvPr id="227" name="参加を絞ると損失は縮小。利益は小幅で、取引数も少ない"/>
          <p:cNvSpPr txBox="1"/>
          <p:nvPr/>
        </p:nvSpPr>
        <p:spPr>
          <a:xfrm>
            <a:off x="655319" y="6438900"/>
            <a:ext cx="102908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参加を絞ると損失は縮小。利益は小幅で、取引数も少ない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3. 回転Bot ③ 追加改善と判断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3. 回転Bot ③ 追加改善と判断</a:t>
            </a:r>
          </a:p>
        </p:txBody>
      </p:sp>
      <p:sp>
        <p:nvSpPr>
          <p:cNvPr id="232" name="時間足・数量を変えても、コスト耐性が課題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時間足・数量を変えても、コスト耐性が課題</a:t>
            </a:r>
          </a:p>
        </p:txBody>
      </p:sp>
      <p:sp>
        <p:nvSpPr>
          <p:cNvPr id="233" name="Binance・2020〜2024年。中央0.5利確、境界の0.5ATR外で損切り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Binance・2020〜2024年。中央0.5利確、境界の0.5ATR外で損切り</a:t>
            </a:r>
          </a:p>
        </p:txBody>
      </p:sp>
      <p:sp>
        <p:nvSpPr>
          <p:cNvPr id="234" name="14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14</a:t>
            </a:r>
          </a:p>
        </p:txBody>
      </p:sp>
      <p:graphicFrame>
        <p:nvGraphicFramePr>
          <p:cNvPr id="235" name="表1"/>
          <p:cNvGraphicFramePr/>
          <p:nvPr/>
        </p:nvGraphicFramePr>
        <p:xfrm>
          <a:off x="609600" y="2647950"/>
          <a:ext cx="4105275" cy="27432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09775"/>
                <a:gridCol w="1238250"/>
                <a:gridCol w="85725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改善案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純損益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取引数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4h・中央H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+1.38%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34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8h・中央H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−0.53%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7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12h・中央H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+0.72%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6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4h・売り1.25倍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+1.62%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34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同案・高コスト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−0.04%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33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6" name="4hの建玉方式比較：初期資産100%"/>
          <p:cNvSpPr txBox="1"/>
          <p:nvPr/>
        </p:nvSpPr>
        <p:spPr>
          <a:xfrm>
            <a:off x="5065395" y="2514600"/>
            <a:ext cx="667131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4hの建玉方式比較：初期資産100%</a:t>
            </a:r>
          </a:p>
        </p:txBody>
      </p:sp>
      <p:pic>
        <p:nvPicPr>
          <p:cNvPr id="237" name="image8.png" descr="image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24425" y="2925056"/>
            <a:ext cx="6953250" cy="2188987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先物1x対称"/>
          <p:cNvSpPr txBox="1"/>
          <p:nvPr/>
        </p:nvSpPr>
        <p:spPr>
          <a:xfrm>
            <a:off x="5284470" y="5238750"/>
            <a:ext cx="25755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697A8F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先物1x対称</a:t>
            </a:r>
          </a:p>
        </p:txBody>
      </p:sp>
      <p:sp>
        <p:nvSpPr>
          <p:cNvPr id="239" name="現物＋売り1x"/>
          <p:cNvSpPr txBox="1"/>
          <p:nvPr/>
        </p:nvSpPr>
        <p:spPr>
          <a:xfrm>
            <a:off x="8618219" y="5238750"/>
            <a:ext cx="30518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6856D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現物＋売り1x</a:t>
            </a:r>
          </a:p>
        </p:txBody>
      </p:sp>
      <p:sp>
        <p:nvSpPr>
          <p:cNvPr id="240" name="現物＋売り1.25倍"/>
          <p:cNvSpPr txBox="1"/>
          <p:nvPr/>
        </p:nvSpPr>
        <p:spPr>
          <a:xfrm>
            <a:off x="5284470" y="5524500"/>
            <a:ext cx="32423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BA5A36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現物＋売り1.25倍</a:t>
            </a:r>
          </a:p>
        </p:txBody>
      </p:sp>
      <p:sp>
        <p:nvSpPr>
          <p:cNvPr id="241" name="1.25倍はリスクも増加。…"/>
          <p:cNvSpPr txBox="1"/>
          <p:nvPr/>
        </p:nvSpPr>
        <p:spPr>
          <a:xfrm>
            <a:off x="655319" y="5619750"/>
            <a:ext cx="4013836" cy="66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pPr>
            <a:r>
              <a:t>1.25倍はリスクも増加。</a:t>
            </a:r>
          </a:p>
          <a:p>
            <a:pPr>
              <a:defRPr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pPr>
            <a:r>
              <a:t>高コストではほぼ損益ゼロ</a:t>
            </a:r>
          </a:p>
        </p:txBody>
      </p:sp>
      <p:sp>
        <p:nvSpPr>
          <p:cNvPr id="242" name="コスト耐性と件数が不足。取引所比較も10〜11取引で、実装・実注文は保留"/>
          <p:cNvSpPr txBox="1"/>
          <p:nvPr/>
        </p:nvSpPr>
        <p:spPr>
          <a:xfrm>
            <a:off x="655319" y="6410325"/>
            <a:ext cx="102908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コスト耐性と件数が不足。取引所比較も10〜11取引で、実装・実注文は保留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4. りょうPさんBot検証からのShortBotの検討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4. りょうPさんBot検証からのShortBotの検討</a:t>
            </a:r>
          </a:p>
        </p:txBody>
      </p:sp>
      <p:sp>
        <p:nvSpPr>
          <p:cNvPr id="247" name="掲載結果の再現と、運用モデルの評価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掲載結果の再現と、運用モデルの評価</a:t>
            </a:r>
          </a:p>
        </p:txBody>
      </p:sp>
      <p:sp>
        <p:nvSpPr>
          <p:cNvPr id="248" name="元ノートブックの全銘柄版を再現し、4銘柄版を両取引所で検証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元ノートブックの全銘柄版を再現し、4銘柄版を両取引所で検証</a:t>
            </a:r>
          </a:p>
        </p:txBody>
      </p:sp>
      <p:sp>
        <p:nvSpPr>
          <p:cNvPr id="249" name="15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15</a:t>
            </a:r>
          </a:p>
        </p:txBody>
      </p:sp>
      <p:graphicFrame>
        <p:nvGraphicFramePr>
          <p:cNvPr id="250" name="表1"/>
          <p:cNvGraphicFramePr/>
          <p:nvPr/>
        </p:nvGraphicFramePr>
        <p:xfrm>
          <a:off x="609600" y="2543175"/>
          <a:ext cx="4105275" cy="152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28775"/>
                <a:gridCol w="1238250"/>
                <a:gridCol w="1238250"/>
              </a:tblGrid>
              <a:tr h="508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4銘柄版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bitbank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HL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A0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−8.93%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−2.68%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S0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−19.06%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−10.45%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pic>
        <p:nvPicPr>
          <p:cNvPr id="251" name="image9.png" descr="image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24425" y="2257425"/>
            <a:ext cx="6953250" cy="2000250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移植期間：2025/7/1〜2026/10/8"/>
          <p:cNvSpPr txBox="1"/>
          <p:nvPr/>
        </p:nvSpPr>
        <p:spPr>
          <a:xfrm>
            <a:off x="655319" y="4114800"/>
            <a:ext cx="4013836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移植期間：2025/7/1〜2026/10/8</a:t>
            </a:r>
          </a:p>
        </p:txBody>
      </p:sp>
      <p:pic>
        <p:nvPicPr>
          <p:cNvPr id="253" name="image10.png" descr="image10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9600" y="4371975"/>
            <a:ext cx="5334000" cy="19526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image11.png" descr="image11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248400" y="4371975"/>
            <a:ext cx="5334000" cy="1952625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元は累積bps、移植後は投入率10%の口座損益率。対象・期間・集計方法の違いに注意"/>
          <p:cNvSpPr txBox="1"/>
          <p:nvPr/>
        </p:nvSpPr>
        <p:spPr>
          <a:xfrm>
            <a:off x="655319" y="6410325"/>
            <a:ext cx="1029081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元は累積bps、移植後は投入率10%の口座損益率。対象・期間・集計方法の違いに注意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4. ShortBotの検討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4. ShortBotの検討</a:t>
            </a:r>
          </a:p>
        </p:txBody>
      </p:sp>
      <p:sp>
        <p:nvSpPr>
          <p:cNvPr id="260" name="A0に2つの条件を追加して、売る候補を絞る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A0に2つの条件を追加して、売る候補を絞る</a:t>
            </a:r>
          </a:p>
        </p:txBody>
      </p:sp>
      <p:sp>
        <p:nvSpPr>
          <p:cNvPr id="261" name="元のA0を基準に、順位スコアと前日のFRを確認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元のA0を基準に、順位スコアと前日のFRを確認</a:t>
            </a:r>
          </a:p>
        </p:txBody>
      </p:sp>
      <p:sp>
        <p:nvSpPr>
          <p:cNvPr id="262" name="16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16</a:t>
            </a:r>
          </a:p>
        </p:txBody>
      </p:sp>
      <p:graphicFrame>
        <p:nvGraphicFramePr>
          <p:cNvPr id="263" name="表1"/>
          <p:cNvGraphicFramePr/>
          <p:nvPr/>
        </p:nvGraphicFramePr>
        <p:xfrm>
          <a:off x="609600" y="2476500"/>
          <a:ext cx="10972800" cy="28575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667000"/>
                <a:gridCol w="8305800"/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確認すること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ルール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元のA0の候補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SOL/BTCが180日平均未満の日、順位上位2銘柄を選ぶ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追加条件① スコア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先物と現物の価格差の偏り・値動きによるスコアが0.30以上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追加条件② FR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前日のFR（資金調達率）が正。通常、売り側が受け取る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売買タイミング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両条件を満たす候補だけ、翌日の始値で売り、終値で買い戻す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264" name="Hyperliquidの期間損益：元A0 −2.68% 条件追加 +3.26%"/>
          <p:cNvSpPr txBox="1"/>
          <p:nvPr/>
        </p:nvSpPr>
        <p:spPr>
          <a:xfrm>
            <a:off x="655319" y="5553075"/>
            <a:ext cx="10881361" cy="364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Hyperliquidの期間損益：元A0 −2.68%　条件追加 +3.26%</a:t>
            </a:r>
          </a:p>
        </p:txBody>
      </p:sp>
      <p:sp>
        <p:nvSpPr>
          <p:cNvPr id="265" name="※15ページと同じ数量制約なしモデル。18ページでは数量制約も反映"/>
          <p:cNvSpPr txBox="1"/>
          <p:nvPr/>
        </p:nvSpPr>
        <p:spPr>
          <a:xfrm>
            <a:off x="655319" y="6115050"/>
            <a:ext cx="102908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※15ページと同じ数量制約なしモデル。18ページでは数量制約も反映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4. ShortBotの検討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4. ShortBotの検討</a:t>
            </a:r>
          </a:p>
        </p:txBody>
      </p:sp>
      <p:sp>
        <p:nvSpPr>
          <p:cNvPr id="270" name="FRペアを組み合わせ、切替を2日確認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FRペアを組み合わせ、切替を2日確認</a:t>
            </a:r>
          </a:p>
        </p:txBody>
      </p:sp>
      <p:sp>
        <p:nvSpPr>
          <p:cNvPr id="271" name="値動きが近い2銘柄で、高FR側を売り、低FR側を買う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値動きが近い2銘柄で、高FR側を売り、低FR側を買う</a:t>
            </a:r>
          </a:p>
        </p:txBody>
      </p:sp>
      <p:sp>
        <p:nvSpPr>
          <p:cNvPr id="272" name="17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273" name="配分例：口座1,000 USDC、全体の新規建玉予算100 USDC（10%）"/>
          <p:cNvSpPr txBox="1"/>
          <p:nvPr/>
        </p:nvSpPr>
        <p:spPr>
          <a:xfrm>
            <a:off x="655319" y="2457450"/>
            <a:ext cx="10881361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配分例：口座1,000 USDC、全体の新規建玉予算100 USDC（10%）</a:t>
            </a:r>
          </a:p>
        </p:txBody>
      </p:sp>
      <p:graphicFrame>
        <p:nvGraphicFramePr>
          <p:cNvPr id="274" name="表1"/>
          <p:cNvGraphicFramePr/>
          <p:nvPr/>
        </p:nvGraphicFramePr>
        <p:xfrm>
          <a:off x="609600" y="3095625"/>
          <a:ext cx="10972800" cy="176212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048000"/>
                <a:gridCol w="2286000"/>
                <a:gridCol w="5638800"/>
              </a:tblGrid>
              <a:tr h="5873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戦略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予算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売り・買いの内訳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A0のショート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最大50 USDC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最大2銘柄に25 USDCずつ配分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FRペア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50 USDC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高FR側を25 USDC売り、低FR側を25 USDC買う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275" name="切替のルール：同じ売り・買いの組が2日連続首位なら、翌日採用・切替"/>
          <p:cNvSpPr txBox="1"/>
          <p:nvPr/>
        </p:nvSpPr>
        <p:spPr>
          <a:xfrm>
            <a:off x="655319" y="5143500"/>
            <a:ext cx="108813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切替のルール：同じ売り・買いの組が2日連続首位なら、翌日採用・切替</a:t>
            </a:r>
          </a:p>
        </p:txBody>
      </p:sp>
      <p:sp>
        <p:nvSpPr>
          <p:cNvPr id="276" name="1日だけの順位変化では維持。旧ペアが条件を外れたら、翌日解消を目指す"/>
          <p:cNvSpPr txBox="1"/>
          <p:nvPr/>
        </p:nvSpPr>
        <p:spPr>
          <a:xfrm>
            <a:off x="655319" y="5629275"/>
            <a:ext cx="108813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1日だけの順位変化では維持。旧ペアが条件を外れたら、翌日解消を目指す</a:t>
            </a:r>
          </a:p>
        </p:txBody>
      </p:sp>
      <p:sp>
        <p:nvSpPr>
          <p:cNvPr id="277" name="FR差に加えて価格差と費用も損益に影響。条件を満たさない予算は現金で残す"/>
          <p:cNvSpPr txBox="1"/>
          <p:nvPr/>
        </p:nvSpPr>
        <p:spPr>
          <a:xfrm>
            <a:off x="655319" y="6172200"/>
            <a:ext cx="1029081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FR差に加えて価格差と費用も損益に影響。条件を満たさない予算は現金で残す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4. ShortBotの検討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4. ShortBotの検討</a:t>
            </a:r>
          </a:p>
        </p:txBody>
      </p:sp>
      <p:sp>
        <p:nvSpPr>
          <p:cNvPr id="282" name="2日確認で切替が減り、過去成績が改善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2日確認で切替が減り、過去成績が改善</a:t>
            </a:r>
          </a:p>
        </p:txBody>
      </p:sp>
      <p:sp>
        <p:nvSpPr>
          <p:cNvPr id="283" name="Hyperliquid・2025/7/1〜2026/10/8・465日・初期1,000 USDC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Hyperliquid・2025/7/1〜2026/10/8・465日・初期1,000 USDC</a:t>
            </a:r>
          </a:p>
        </p:txBody>
      </p:sp>
      <p:sp>
        <p:nvSpPr>
          <p:cNvPr id="284" name="18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18</a:t>
            </a:r>
          </a:p>
        </p:txBody>
      </p:sp>
      <p:graphicFrame>
        <p:nvGraphicFramePr>
          <p:cNvPr id="285" name="表1"/>
          <p:cNvGraphicFramePr/>
          <p:nvPr/>
        </p:nvGraphicFramePr>
        <p:xfrm>
          <a:off x="609600" y="2600325"/>
          <a:ext cx="4105275" cy="23241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914525"/>
                <a:gridCol w="1095375"/>
                <a:gridCol w="1095375"/>
              </a:tblGrid>
              <a:tr h="5810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モデル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期間損益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最大DD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A0単独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+3.21%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−2.24%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A0＋FRペア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+2.71%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−1.36%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併用＋2日確認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+3.68%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−1.18%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86" name="image12.png" descr="image1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24425" y="2505075"/>
            <a:ext cx="6953250" cy="2762250"/>
          </a:xfrm>
          <a:prstGeom prst="rect">
            <a:avLst/>
          </a:prstGeom>
          <a:ln w="12700">
            <a:miter lim="400000"/>
          </a:ln>
        </p:spPr>
      </p:pic>
      <p:sp>
        <p:nvSpPr>
          <p:cNvPr id="287" name="ペアの直接切替：108回から49回"/>
          <p:cNvSpPr txBox="1"/>
          <p:nvPr/>
        </p:nvSpPr>
        <p:spPr>
          <a:xfrm>
            <a:off x="655319" y="5286375"/>
            <a:ext cx="10881361" cy="364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ペアの直接切替：108回から49回</a:t>
            </a:r>
          </a:p>
        </p:txBody>
      </p:sp>
      <p:sp>
        <p:nvSpPr>
          <p:cNvPr id="288" name="片道の滑り0.20%でも、併用基準 +0.02%、2日確認 +1.33%"/>
          <p:cNvSpPr txBox="1"/>
          <p:nvPr/>
        </p:nvSpPr>
        <p:spPr>
          <a:xfrm>
            <a:off x="655319" y="5743575"/>
            <a:ext cx="108813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42C3E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片道の滑り0.20%でも、併用基準 +0.02%、2日確認 +1.33%</a:t>
            </a:r>
          </a:p>
        </p:txBody>
      </p:sp>
      <p:sp>
        <p:nvSpPr>
          <p:cNvPr id="289" name="表・曲線は片道滑り0.05%。最大DDは資産の最高値からの最大下落（日次終値）"/>
          <p:cNvSpPr txBox="1"/>
          <p:nvPr/>
        </p:nvSpPr>
        <p:spPr>
          <a:xfrm>
            <a:off x="655319" y="6200775"/>
            <a:ext cx="1029081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表・曲線は片道滑り0.05%。最大DDは資産の最高値からの最大下落（日次終値）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4. ShortBotの検討"/>
          <p:cNvSpPr txBox="1"/>
          <p:nvPr/>
        </p:nvSpPr>
        <p:spPr>
          <a:xfrm>
            <a:off x="655319" y="323850"/>
            <a:ext cx="10386061" cy="28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4. ShortBotの検討</a:t>
            </a:r>
          </a:p>
        </p:txBody>
      </p:sp>
      <p:sp>
        <p:nvSpPr>
          <p:cNvPr id="294" name="2日確認案は候補に残し、安定性をさらに確認"/>
          <p:cNvSpPr txBox="1"/>
          <p:nvPr/>
        </p:nvSpPr>
        <p:spPr>
          <a:xfrm>
            <a:off x="655319" y="838200"/>
            <a:ext cx="10881361" cy="49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100">
                <a:solidFill>
                  <a:srgbClr val="142C3E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2日確認案は候補に残し、安定性をさらに確認</a:t>
            </a:r>
          </a:p>
        </p:txBody>
      </p:sp>
      <p:sp>
        <p:nvSpPr>
          <p:cNvPr id="295" name="18ページの改善が、条件を変えても続くかを追加検証"/>
          <p:cNvSpPr txBox="1"/>
          <p:nvPr/>
        </p:nvSpPr>
        <p:spPr>
          <a:xfrm>
            <a:off x="655319" y="1752600"/>
            <a:ext cx="10881361" cy="3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18ページの改善が、条件を変えても続くかを追加検証</a:t>
            </a:r>
          </a:p>
        </p:txBody>
      </p:sp>
      <p:sp>
        <p:nvSpPr>
          <p:cNvPr id="296" name="19"/>
          <p:cNvSpPr txBox="1"/>
          <p:nvPr/>
        </p:nvSpPr>
        <p:spPr>
          <a:xfrm>
            <a:off x="11094719" y="6343650"/>
            <a:ext cx="441961" cy="26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19</a:t>
            </a:r>
          </a:p>
        </p:txBody>
      </p:sp>
      <p:graphicFrame>
        <p:nvGraphicFramePr>
          <p:cNvPr id="297" name="表1"/>
          <p:cNvGraphicFramePr/>
          <p:nvPr/>
        </p:nvGraphicFramePr>
        <p:xfrm>
          <a:off x="609600" y="2514600"/>
          <a:ext cx="10972800" cy="28575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952750"/>
                <a:gridCol w="2952750"/>
                <a:gridCol w="5067300"/>
              </a:tblGrid>
              <a:tr h="7143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追加で確かめたこと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結果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FFFFFF"/>
                          </a:solidFill>
                          <a:latin typeface="ヒラギノ角ゴシック W6"/>
                          <a:ea typeface="ヒラギノ角ゴシック W6"/>
                          <a:cs typeface="ヒラギノ角ゴシック W6"/>
                          <a:sym typeface="ヒラギノ角ゴシック W6"/>
                        </a:rPr>
                        <a:t>読み取れること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142C3E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FRの受取をゼロに
支払いは維持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2日確認 +3.15%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FRの現金収入への依存は小さい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XRPを取引対象から除外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基準 +1.47%
2日確認 +1.19%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銘柄構成が変わると
基準を上回る改善が消える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EEF3F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90日間の損益を
1日ずつずらして集計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42／376区間が赤字
最悪 −0.84%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42C3E"/>
                          </a:solidFill>
                          <a:latin typeface="ヒラギノ角ゴシック W3"/>
                          <a:ea typeface="ヒラギノ角ゴシック W3"/>
                          <a:cs typeface="ヒラギノ角ゴシック W3"/>
                          <a:sym typeface="ヒラギノ角ゴシック W3"/>
                        </a:rPr>
                        <a:t>全期間が黒字でも
短い期間では損失が残る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5EA"/>
                      </a:solidFill>
                    </a:lnL>
                    <a:lnR>
                      <a:solidFill>
                        <a:srgbClr val="DCE5EA"/>
                      </a:solidFill>
                    </a:lnR>
                    <a:lnT>
                      <a:solidFill>
                        <a:srgbClr val="DCE5EA"/>
                      </a:solidFill>
                    </a:lnT>
                    <a:lnB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8" name="90日区間は重複。基準との差が偶然ではないと判断するには、まだ証拠が十分でない"/>
          <p:cNvSpPr txBox="1"/>
          <p:nvPr/>
        </p:nvSpPr>
        <p:spPr>
          <a:xfrm>
            <a:off x="655319" y="5524500"/>
            <a:ext cx="10881361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26674"/>
                </a:solidFill>
                <a:latin typeface="ヒラギノ角ゴシック W3"/>
                <a:ea typeface="ヒラギノ角ゴシック W3"/>
                <a:cs typeface="ヒラギノ角ゴシック W3"/>
                <a:sym typeface="ヒラギノ角ゴシック W3"/>
              </a:defRPr>
            </a:lvl1pPr>
          </a:lstStyle>
          <a:p>
            <a:pPr/>
            <a:r>
              <a:t>90日区間は重複。基準との差が偶然ではないと判断するには、まだ証拠が十分でない</a:t>
            </a:r>
          </a:p>
        </p:txBody>
      </p:sp>
      <p:sp>
        <p:nvSpPr>
          <p:cNvPr id="299" name="次の方針：ルールを固定し、ペーパー運用で基準案と比較"/>
          <p:cNvSpPr txBox="1"/>
          <p:nvPr/>
        </p:nvSpPr>
        <p:spPr>
          <a:xfrm>
            <a:off x="655319" y="6029325"/>
            <a:ext cx="10290811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007F80"/>
                </a:solidFill>
                <a:latin typeface="ヒラギノ角ゴシック W6"/>
                <a:ea typeface="ヒラギノ角ゴシック W6"/>
                <a:cs typeface="ヒラギノ角ゴシック W6"/>
                <a:sym typeface="ヒラギノ角ゴシック W6"/>
              </a:defRPr>
            </a:lvl1pPr>
          </a:lstStyle>
          <a:p>
            <a:pPr/>
            <a:r>
              <a:t>次の方針：ルールを固定し、ペーパー運用で基準案と比較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